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Inter" charset="1" panose="020B0502030000000004"/>
      <p:regular r:id="rId29"/>
    </p:embeddedFont>
    <p:embeddedFont>
      <p:font typeface="Inter Bold" charset="1" panose="020B0802030000000004"/>
      <p:regular r:id="rId30"/>
    </p:embeddedFont>
    <p:embeddedFont>
      <p:font typeface="프리텐다드" charset="1" panose="02000503000000020004"/>
      <p:regular r:id="rId33"/>
    </p:embeddedFont>
    <p:embeddedFont>
      <p:font typeface="프리텐다드 Bold" charset="1" panose="020008030000000200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65483" cy="10312403"/>
            <a:chOff x="0" y="0"/>
            <a:chExt cx="8873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73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887349">
                  <a:moveTo>
                    <a:pt x="0" y="0"/>
                  </a:moveTo>
                  <a:lnTo>
                    <a:pt x="887349" y="0"/>
                  </a:lnTo>
                  <a:lnTo>
                    <a:pt x="8873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2926080"/>
            <a:ext cx="12801600" cy="1828800"/>
            <a:chOff x="0" y="0"/>
            <a:chExt cx="170688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68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17068800" cy="2600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두리번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8720" y="4846320"/>
            <a:ext cx="12801600" cy="914400"/>
            <a:chOff x="0" y="0"/>
            <a:chExt cx="170688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859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라이프스타일</a:t>
              </a:r>
              <a:r>
                <a:rPr lang="en-US" sz="3200">
                  <a:solidFill>
                    <a:srgbClr val="859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기반 맞춤 부동산 추천 플랫폼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6023" y="5930903"/>
            <a:ext cx="7340603" cy="80267"/>
            <a:chOff x="0" y="0"/>
            <a:chExt cx="9787471" cy="107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87509" cy="107061"/>
            </a:xfrm>
            <a:custGeom>
              <a:avLst/>
              <a:gdLst/>
              <a:ahLst/>
              <a:cxnLst/>
              <a:rect r="r" b="b" t="t" l="l"/>
              <a:pathLst>
                <a:path h="107061" w="9787509">
                  <a:moveTo>
                    <a:pt x="0" y="0"/>
                  </a:moveTo>
                  <a:lnTo>
                    <a:pt x="9787509" y="0"/>
                  </a:lnTo>
                  <a:lnTo>
                    <a:pt x="978750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5D6C7B"/>
            </a:solidFill>
            <a:ln w="25400" cap="sq">
              <a:solidFill>
                <a:srgbClr val="5D6C7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6217920"/>
            <a:ext cx="10972800" cy="822960"/>
            <a:chOff x="0" y="0"/>
            <a:chExt cx="146304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6304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59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설문혁  ·  정상훈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" y="7040880"/>
            <a:ext cx="10972800" cy="640080"/>
            <a:chOff x="0" y="0"/>
            <a:chExt cx="146304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51943" y="8948423"/>
            <a:ext cx="3134363" cy="720347"/>
            <a:chOff x="0" y="0"/>
            <a:chExt cx="4179151" cy="9604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062" cy="960374"/>
            </a:xfrm>
            <a:custGeom>
              <a:avLst/>
              <a:gdLst/>
              <a:ahLst/>
              <a:cxnLst/>
              <a:rect r="r" b="b" t="t" l="l"/>
              <a:pathLst>
                <a:path h="960374" w="4179062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3698875" y="0"/>
                  </a:lnTo>
                  <a:cubicBezTo>
                    <a:pt x="3964051" y="0"/>
                    <a:pt x="4179062" y="215011"/>
                    <a:pt x="4179062" y="480187"/>
                  </a:cubicBezTo>
                  <a:cubicBezTo>
                    <a:pt x="4179062" y="745363"/>
                    <a:pt x="3964051" y="960374"/>
                    <a:pt x="3698875" y="960374"/>
                  </a:cubicBez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264640" y="8961120"/>
            <a:ext cx="3108960" cy="694944"/>
            <a:chOff x="0" y="0"/>
            <a:chExt cx="41452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발표 자료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307150" y="2464258"/>
            <a:ext cx="1982012" cy="1982012"/>
          </a:xfrm>
          <a:custGeom>
            <a:avLst/>
            <a:gdLst/>
            <a:ahLst/>
            <a:cxnLst/>
            <a:rect r="r" b="b" t="t" l="l"/>
            <a:pathLst>
              <a:path h="1982012" w="1982012">
                <a:moveTo>
                  <a:pt x="0" y="0"/>
                </a:moveTo>
                <a:lnTo>
                  <a:pt x="1982012" y="0"/>
                </a:lnTo>
                <a:lnTo>
                  <a:pt x="1982012" y="1982012"/>
                </a:lnTo>
                <a:lnTo>
                  <a:pt x="0" y="1982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" y="9486900"/>
            <a:ext cx="16230600" cy="0"/>
          </a:xfrm>
          <a:prstGeom prst="line">
            <a:avLst/>
          </a:prstGeom>
          <a:ln cap="flat" w="19050">
            <a:solidFill>
              <a:srgbClr val="DE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640080"/>
            <a:ext cx="16459200" cy="1280160"/>
            <a:chOff x="0" y="0"/>
            <a:chExt cx="2194560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A13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목차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59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845415"/>
            <a:ext cx="16231107" cy="5662898"/>
            <a:chOff x="0" y="0"/>
            <a:chExt cx="21641476" cy="7550530"/>
          </a:xfrm>
        </p:grpSpPr>
        <p:sp>
          <p:nvSpPr>
            <p:cNvPr name="AutoShape 10" id="10"/>
            <p:cNvSpPr/>
            <p:nvPr/>
          </p:nvSpPr>
          <p:spPr>
            <a:xfrm>
              <a:off x="0" y="7537830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6218210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4898590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3578970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2259350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939729"/>
              <a:ext cx="21641476" cy="0"/>
            </a:xfrm>
            <a:prstGeom prst="line">
              <a:avLst/>
            </a:prstGeom>
            <a:ln cap="flat" w="25400">
              <a:solidFill>
                <a:srgbClr val="DEE3E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082074" y="6531426"/>
              <a:ext cx="18936292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sz="3463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성능 개선 사례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531426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82074" y="5211805"/>
              <a:ext cx="18936292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sz="3463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AI 활용 및</a:t>
              </a:r>
              <a:r>
                <a:rPr lang="en-US" sz="3463" strike="noStrike" u="none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3463" strike="noStrike" u="none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프롬프팅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211805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79500" y="3886438"/>
              <a:ext cx="18948400" cy="76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4"/>
                </a:lnSpc>
                <a:spcBef>
                  <a:spcPct val="0"/>
                </a:spcBef>
              </a:pPr>
              <a:r>
                <a:rPr lang="en-US" sz="3460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핵심 기능 설명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892185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82074" y="2572565"/>
              <a:ext cx="18936292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sz="3463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시연 영상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572565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82074" y="1252945"/>
              <a:ext cx="18936292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sz="3463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개발 일정 및 아키텍처 · 기술 스택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252945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82074" y="-66675"/>
              <a:ext cx="18936292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sz="3463" strike="noStrike" u="none">
                  <a:solidFill>
                    <a:srgbClr val="0A1317"/>
                  </a:solidFill>
                  <a:latin typeface="Inter"/>
                  <a:ea typeface="Inter"/>
                  <a:cs typeface="Inter"/>
                  <a:sym typeface="Inter"/>
                </a:rPr>
                <a:t>프로젝트 소개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66675"/>
              <a:ext cx="811555" cy="769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8"/>
                </a:lnSpc>
                <a:spcBef>
                  <a:spcPct val="0"/>
                </a:spcBef>
              </a:pPr>
              <a:r>
                <a:rPr lang="en-US" b="true" sz="3463" strike="noStrike" u="none">
                  <a:solidFill>
                    <a:srgbClr val="0064E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24025" y="8705850"/>
            <a:ext cx="14211300" cy="60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7"/>
              </a:lnSpc>
              <a:spcBef>
                <a:spcPct val="0"/>
              </a:spcBef>
            </a:pPr>
            <a:r>
              <a:rPr lang="en-US" sz="353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8705850"/>
            <a:ext cx="609600" cy="60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7"/>
              </a:lnSpc>
              <a:spcBef>
                <a:spcPct val="0"/>
              </a:spcBef>
            </a:pPr>
            <a:r>
              <a:rPr lang="en-US" b="true" sz="3533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기획 배경 및 목표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Background &amp; Goal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4086225"/>
            <a:ext cx="16002000" cy="2476500"/>
            <a:chOff x="0" y="0"/>
            <a:chExt cx="21336000" cy="330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302000"/>
                  </a:lnTo>
                  <a:lnTo>
                    <a:pt x="0" y="330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49" t="0" r="24107" b="-158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57175"/>
              <a:ext cx="21336000" cy="3559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00"/>
                </a:lnSpc>
              </a:pPr>
              <a:r>
                <a:rPr lang="en-US" sz="5000" b="true">
                  <a:solidFill>
                    <a:srgbClr val="444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사용자에게 쏟아지는 매물 목록이 정답은 아닙니다.</a:t>
              </a:r>
            </a:p>
            <a:p>
              <a:pPr algn="ctr">
                <a:lnSpc>
                  <a:spcPts val="7500"/>
                </a:lnSpc>
              </a:pPr>
              <a:r>
                <a:rPr lang="en-US" sz="5000" b="true">
                  <a:solidFill>
                    <a:srgbClr val="444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나에게 맞는 집을 찾으려면, 먼저 나를 알아야 합니다.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기획 배경 및 목표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Background &amp; Goal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2924210" y="7380675"/>
            <a:ext cx="4651914" cy="0"/>
          </a:xfrm>
          <a:prstGeom prst="line">
            <a:avLst/>
          </a:prstGeom>
          <a:ln cap="flat" w="95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328346" y="3118109"/>
            <a:ext cx="0" cy="5514568"/>
          </a:xfrm>
          <a:prstGeom prst="line">
            <a:avLst/>
          </a:prstGeom>
          <a:ln cap="rnd" w="9525">
            <a:solidFill>
              <a:srgbClr val="000000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2288864" y="3118109"/>
            <a:ext cx="0" cy="5514568"/>
          </a:xfrm>
          <a:prstGeom prst="line">
            <a:avLst/>
          </a:prstGeom>
          <a:ln cap="rnd" w="9525">
            <a:solidFill>
              <a:srgbClr val="000000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487721" y="4062199"/>
            <a:ext cx="1524893" cy="1399089"/>
          </a:xfrm>
          <a:custGeom>
            <a:avLst/>
            <a:gdLst/>
            <a:ahLst/>
            <a:cxnLst/>
            <a:rect r="r" b="b" t="t" l="l"/>
            <a:pathLst>
              <a:path h="1399089" w="1524893">
                <a:moveTo>
                  <a:pt x="0" y="0"/>
                </a:moveTo>
                <a:lnTo>
                  <a:pt x="1524893" y="0"/>
                </a:lnTo>
                <a:lnTo>
                  <a:pt x="1524893" y="1399089"/>
                </a:lnTo>
                <a:lnTo>
                  <a:pt x="0" y="1399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40473" y="3187893"/>
            <a:ext cx="2360316" cy="5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4225" spc="-84" strike="noStrike" u="none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37401" y="3187893"/>
            <a:ext cx="2360316" cy="5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4225" spc="-84" strike="noStrike" u="none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0009" y="3187893"/>
            <a:ext cx="2360316" cy="57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4225" spc="-84" strike="noStrike" u="none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28817" y="5838345"/>
            <a:ext cx="4442700" cy="51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5"/>
              </a:lnSpc>
              <a:spcBef>
                <a:spcPct val="0"/>
              </a:spcBef>
            </a:pPr>
            <a:r>
              <a:rPr lang="en-US" b="true" sz="3482" spc="-6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AI</a:t>
            </a:r>
            <a:r>
              <a:rPr lang="en-US" b="true" sz="3482" spc="-69" strike="noStrike" u="non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3482" spc="-69" strike="noStrike" u="non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상담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08803" y="4062199"/>
            <a:ext cx="5217512" cy="4030777"/>
            <a:chOff x="0" y="0"/>
            <a:chExt cx="6956683" cy="5374369"/>
          </a:xfrm>
        </p:grpSpPr>
        <p:sp>
          <p:nvSpPr>
            <p:cNvPr name="AutoShape 19" id="19"/>
            <p:cNvSpPr/>
            <p:nvPr/>
          </p:nvSpPr>
          <p:spPr>
            <a:xfrm>
              <a:off x="377065" y="4340342"/>
              <a:ext cx="6202552" cy="0"/>
            </a:xfrm>
            <a:prstGeom prst="line">
              <a:avLst/>
            </a:prstGeom>
            <a:ln cap="flat" w="12700">
              <a:solidFill>
                <a:srgbClr val="000000">
                  <a:alpha val="29804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36945" y="0"/>
              <a:ext cx="1882794" cy="1696868"/>
            </a:xfrm>
            <a:custGeom>
              <a:avLst/>
              <a:gdLst/>
              <a:ahLst/>
              <a:cxnLst/>
              <a:rect r="r" b="b" t="t" l="l"/>
              <a:pathLst>
                <a:path h="1696868" w="1882794">
                  <a:moveTo>
                    <a:pt x="0" y="0"/>
                  </a:moveTo>
                  <a:lnTo>
                    <a:pt x="1882793" y="0"/>
                  </a:lnTo>
                  <a:lnTo>
                    <a:pt x="1882793" y="1696868"/>
                  </a:lnTo>
                  <a:lnTo>
                    <a:pt x="0" y="1696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16541" y="2280726"/>
              <a:ext cx="5923600" cy="68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05"/>
                </a:lnSpc>
                <a:spcBef>
                  <a:spcPct val="0"/>
                </a:spcBef>
              </a:pPr>
              <a:r>
                <a:rPr lang="en-US" b="true" sz="3482" spc="-69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매물 위험도 분석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4836990"/>
              <a:ext cx="6956683" cy="537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3511"/>
                </a:lnSpc>
                <a:spcBef>
                  <a:spcPct val="0"/>
                </a:spcBef>
              </a:pPr>
              <a:r>
                <a:rPr lang="en-US" sz="2340" spc="-46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주변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시세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비교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기반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전세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위험도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자동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분석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3019" y="3954464"/>
            <a:ext cx="4651914" cy="4617068"/>
            <a:chOff x="0" y="0"/>
            <a:chExt cx="6202552" cy="6156090"/>
          </a:xfrm>
        </p:grpSpPr>
        <p:sp>
          <p:nvSpPr>
            <p:cNvPr name="AutoShape 24" id="24"/>
            <p:cNvSpPr/>
            <p:nvPr/>
          </p:nvSpPr>
          <p:spPr>
            <a:xfrm>
              <a:off x="0" y="4490457"/>
              <a:ext cx="6202552" cy="0"/>
            </a:xfrm>
            <a:prstGeom prst="line">
              <a:avLst/>
            </a:prstGeom>
            <a:ln cap="flat" w="12700">
              <a:solidFill>
                <a:srgbClr val="000000">
                  <a:alpha val="29804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119794" y="0"/>
              <a:ext cx="1997097" cy="1997097"/>
            </a:xfrm>
            <a:custGeom>
              <a:avLst/>
              <a:gdLst/>
              <a:ahLst/>
              <a:cxnLst/>
              <a:rect r="r" b="b" t="t" l="l"/>
              <a:pathLst>
                <a:path h="1997097" w="1997097">
                  <a:moveTo>
                    <a:pt x="0" y="0"/>
                  </a:moveTo>
                  <a:lnTo>
                    <a:pt x="1997096" y="0"/>
                  </a:lnTo>
                  <a:lnTo>
                    <a:pt x="1997096" y="1997097"/>
                  </a:lnTo>
                  <a:lnTo>
                    <a:pt x="0" y="1997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39476" y="2430841"/>
              <a:ext cx="5923600" cy="687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05"/>
                </a:lnSpc>
                <a:spcBef>
                  <a:spcPct val="0"/>
                </a:spcBef>
              </a:pPr>
              <a:r>
                <a:rPr lang="en-US" b="true" sz="3482" spc="-69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사용자</a:t>
              </a:r>
              <a:r>
                <a:rPr lang="en-US" b="true" sz="3482" spc="-69" strike="noStrike" u="non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b="true" sz="3482" spc="-69" strike="noStrike" u="non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맞춤</a:t>
              </a:r>
              <a:r>
                <a:rPr lang="en-US" b="true" sz="3482" spc="-69" strike="noStrike" u="non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b="true" sz="3482" spc="-69" strike="noStrike" u="non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추천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4720" y="5038612"/>
              <a:ext cx="6073112" cy="1117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  <a:spcBef>
                  <a:spcPct val="0"/>
                </a:spcBef>
              </a:pPr>
              <a:r>
                <a:rPr lang="en-US" sz="2340" spc="-46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라이프스타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일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설문(자취TI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검사)</a:t>
              </a:r>
            </a:p>
            <a:p>
              <a:pPr algn="ctr" marL="0" indent="0" lvl="1">
                <a:lnSpc>
                  <a:spcPts val="3511"/>
                </a:lnSpc>
                <a:spcBef>
                  <a:spcPct val="0"/>
                </a:spcBef>
              </a:pP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기반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맞춤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매물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2340" spc="-46" strike="noStrike" u="none">
                  <a:solidFill>
                    <a:srgbClr val="000000">
                      <a:alpha val="69804"/>
                    </a:srgbClr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추천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972750" y="7772742"/>
            <a:ext cx="4554834" cy="85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2340" spc="-46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챗봇으로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매물을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비교하고,</a:t>
            </a: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ctr" marL="0" indent="0" lvl="1">
              <a:lnSpc>
                <a:spcPts val="3511"/>
              </a:lnSpc>
              <a:spcBef>
                <a:spcPct val="0"/>
              </a:spcBef>
            </a:pPr>
            <a:r>
              <a:rPr lang="en-US" sz="2340" spc="-46" strike="noStrike" u="none">
                <a:solidFill>
                  <a:srgbClr val="000000">
                    <a:alpha val="69804"/>
                  </a:srgbClr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계약 전 법률 리스크까지 한 번에 상담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전체 프로젝트 일정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59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Timeline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593769" y="2417520"/>
            <a:ext cx="17853069" cy="7300043"/>
            <a:chOff x="0" y="0"/>
            <a:chExt cx="23804092" cy="973339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4395263" y="0"/>
              <a:ext cx="3231811" cy="775635"/>
              <a:chOff x="0" y="0"/>
              <a:chExt cx="3048000" cy="73152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1주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627074" y="0"/>
              <a:ext cx="3231811" cy="775635"/>
              <a:chOff x="0" y="0"/>
              <a:chExt cx="3048000" cy="7315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2주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0858885" y="0"/>
              <a:ext cx="3231811" cy="775635"/>
              <a:chOff x="0" y="0"/>
              <a:chExt cx="3048000" cy="7315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3주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090696" y="0"/>
              <a:ext cx="3231811" cy="775635"/>
              <a:chOff x="0" y="0"/>
              <a:chExt cx="3048000" cy="73152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4주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7322507" y="0"/>
              <a:ext cx="3231811" cy="775635"/>
              <a:chOff x="0" y="0"/>
              <a:chExt cx="3048000" cy="7315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5주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0554318" y="0"/>
              <a:ext cx="3231811" cy="775635"/>
              <a:chOff x="0" y="0"/>
              <a:chExt cx="3048000" cy="73152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048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187" r="0" b="-31187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304800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6주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163452"/>
              <a:ext cx="4136718" cy="982471"/>
              <a:chOff x="0" y="0"/>
              <a:chExt cx="3901440" cy="9265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90144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901440">
                    <a:moveTo>
                      <a:pt x="0" y="0"/>
                    </a:moveTo>
                    <a:lnTo>
                      <a:pt x="3901440" y="0"/>
                    </a:lnTo>
                    <a:lnTo>
                      <a:pt x="390144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042" r="0" b="-32042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3901440" cy="9742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기획·설계</a:t>
                </a:r>
              </a:p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5/22~5/28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377313" y="1248920"/>
              <a:ext cx="19426779" cy="811548"/>
              <a:chOff x="0" y="0"/>
              <a:chExt cx="18321871" cy="76539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83217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83217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7939131" y="0"/>
                    </a:lnTo>
                    <a:cubicBezTo>
                      <a:pt x="18150460" y="0"/>
                      <a:pt x="18321782" y="171323"/>
                      <a:pt x="18321782" y="382651"/>
                    </a:cubicBezTo>
                    <a:cubicBezTo>
                      <a:pt x="18321782" y="593979"/>
                      <a:pt x="18150460" y="765302"/>
                      <a:pt x="179391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DEE3E9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377313" y="1248920"/>
              <a:ext cx="5465356" cy="811548"/>
              <a:chOff x="0" y="0"/>
              <a:chExt cx="5154511" cy="76539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15442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515442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4771771" y="0"/>
                    </a:lnTo>
                    <a:cubicBezTo>
                      <a:pt x="4983099" y="0"/>
                      <a:pt x="5154422" y="171323"/>
                      <a:pt x="5154422" y="382651"/>
                    </a:cubicBezTo>
                    <a:cubicBezTo>
                      <a:pt x="5154422" y="593979"/>
                      <a:pt x="4983099" y="765302"/>
                      <a:pt x="477177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0064E0"/>
              </a:solidFill>
              <a:ln w="25400" cap="sq">
                <a:solidFill>
                  <a:srgbClr val="0064E0"/>
                </a:solidFill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714721"/>
              <a:ext cx="4136718" cy="982471"/>
              <a:chOff x="0" y="0"/>
              <a:chExt cx="3901440" cy="92659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90144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901440">
                    <a:moveTo>
                      <a:pt x="0" y="0"/>
                    </a:moveTo>
                    <a:lnTo>
                      <a:pt x="3901440" y="0"/>
                    </a:lnTo>
                    <a:lnTo>
                      <a:pt x="390144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042" r="0" b="-32042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901440" cy="9742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환경 구성</a:t>
                </a:r>
              </a:p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5/29~6/3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377313" y="2800189"/>
              <a:ext cx="19426779" cy="811548"/>
              <a:chOff x="0" y="0"/>
              <a:chExt cx="18321871" cy="76539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3217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83217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7939131" y="0"/>
                    </a:lnTo>
                    <a:cubicBezTo>
                      <a:pt x="18150460" y="0"/>
                      <a:pt x="18321782" y="171323"/>
                      <a:pt x="18321782" y="382651"/>
                    </a:cubicBezTo>
                    <a:cubicBezTo>
                      <a:pt x="18321782" y="593979"/>
                      <a:pt x="18150460" y="765302"/>
                      <a:pt x="179391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DEE3E9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8255486" y="2800189"/>
              <a:ext cx="3526269" cy="811548"/>
              <a:chOff x="0" y="0"/>
              <a:chExt cx="3325711" cy="76539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32562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332562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2942971" y="0"/>
                    </a:lnTo>
                    <a:cubicBezTo>
                      <a:pt x="3154299" y="0"/>
                      <a:pt x="3325622" y="171323"/>
                      <a:pt x="3325622" y="382651"/>
                    </a:cubicBezTo>
                    <a:cubicBezTo>
                      <a:pt x="3325622" y="593979"/>
                      <a:pt x="3154299" y="765302"/>
                      <a:pt x="294297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0064E0"/>
              </a:solidFill>
              <a:ln w="25400" cap="sq">
                <a:solidFill>
                  <a:srgbClr val="0064E0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4265990"/>
              <a:ext cx="4136718" cy="982471"/>
              <a:chOff x="0" y="0"/>
              <a:chExt cx="3901440" cy="92659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90144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901440">
                    <a:moveTo>
                      <a:pt x="0" y="0"/>
                    </a:moveTo>
                    <a:lnTo>
                      <a:pt x="3901440" y="0"/>
                    </a:lnTo>
                    <a:lnTo>
                      <a:pt x="390144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042" r="0" b="-32042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3901440" cy="9742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기능 개발</a:t>
                </a:r>
              </a:p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6/4~6/16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4377313" y="4351458"/>
              <a:ext cx="19426779" cy="811548"/>
              <a:chOff x="0" y="0"/>
              <a:chExt cx="18321871" cy="76539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83217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83217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7939131" y="0"/>
                    </a:lnTo>
                    <a:cubicBezTo>
                      <a:pt x="18150460" y="0"/>
                      <a:pt x="18321782" y="171323"/>
                      <a:pt x="18321782" y="382651"/>
                    </a:cubicBezTo>
                    <a:cubicBezTo>
                      <a:pt x="18321782" y="593979"/>
                      <a:pt x="18150460" y="765302"/>
                      <a:pt x="179391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DEE3E9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0776299" y="4351458"/>
              <a:ext cx="8761803" cy="811548"/>
              <a:chOff x="0" y="0"/>
              <a:chExt cx="8263471" cy="76539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2633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82633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7880731" y="0"/>
                    </a:lnTo>
                    <a:cubicBezTo>
                      <a:pt x="8092060" y="0"/>
                      <a:pt x="8263382" y="171323"/>
                      <a:pt x="8263382" y="382651"/>
                    </a:cubicBezTo>
                    <a:cubicBezTo>
                      <a:pt x="8263382" y="593979"/>
                      <a:pt x="8092060" y="765302"/>
                      <a:pt x="78807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0A1317"/>
              </a:solidFill>
              <a:ln w="25400" cap="sq">
                <a:solidFill>
                  <a:srgbClr val="0A1317"/>
                </a:solidFill>
                <a:prstDash val="solid"/>
                <a:miter/>
              </a:ln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5817260"/>
              <a:ext cx="4136718" cy="982471"/>
              <a:chOff x="0" y="0"/>
              <a:chExt cx="3901440" cy="92659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90144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901440">
                    <a:moveTo>
                      <a:pt x="0" y="0"/>
                    </a:moveTo>
                    <a:lnTo>
                      <a:pt x="3901440" y="0"/>
                    </a:lnTo>
                    <a:lnTo>
                      <a:pt x="390144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042" r="0" b="-32042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47625"/>
                <a:ext cx="3901440" cy="9742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AI·성능</a:t>
                </a:r>
              </a:p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6/17~6/23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4377313" y="5902728"/>
              <a:ext cx="19426779" cy="811548"/>
              <a:chOff x="0" y="0"/>
              <a:chExt cx="18321871" cy="76539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83217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83217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7939131" y="0"/>
                    </a:lnTo>
                    <a:cubicBezTo>
                      <a:pt x="18150460" y="0"/>
                      <a:pt x="18321782" y="171323"/>
                      <a:pt x="18321782" y="382651"/>
                    </a:cubicBezTo>
                    <a:cubicBezTo>
                      <a:pt x="18321782" y="593979"/>
                      <a:pt x="18150460" y="765302"/>
                      <a:pt x="179391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DEE3E9"/>
                </a:solidFill>
                <a:prstDash val="solid"/>
                <a:miter/>
              </a:ln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18338736" y="5902728"/>
              <a:ext cx="3526269" cy="811548"/>
              <a:chOff x="0" y="0"/>
              <a:chExt cx="3325711" cy="76539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32562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332562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2942971" y="0"/>
                    </a:lnTo>
                    <a:cubicBezTo>
                      <a:pt x="3154299" y="0"/>
                      <a:pt x="3325622" y="171323"/>
                      <a:pt x="3325622" y="382651"/>
                    </a:cubicBezTo>
                    <a:cubicBezTo>
                      <a:pt x="3325622" y="593979"/>
                      <a:pt x="3154299" y="765302"/>
                      <a:pt x="294297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0A1317"/>
              </a:solidFill>
              <a:ln w="25400" cap="sq">
                <a:solidFill>
                  <a:srgbClr val="0A1317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7368529"/>
              <a:ext cx="4136718" cy="982471"/>
              <a:chOff x="0" y="0"/>
              <a:chExt cx="3901440" cy="92659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90144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901440">
                    <a:moveTo>
                      <a:pt x="0" y="0"/>
                    </a:moveTo>
                    <a:lnTo>
                      <a:pt x="3901440" y="0"/>
                    </a:lnTo>
                    <a:lnTo>
                      <a:pt x="390144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042" r="0" b="-32042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3901440" cy="9742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발표 준비</a:t>
                </a:r>
              </a:p>
              <a:p>
                <a:pPr algn="r">
                  <a:lnSpc>
                    <a:spcPts val="2640"/>
                  </a:lnSpc>
                </a:pPr>
                <a:r>
                  <a:rPr lang="en-US" sz="2200">
                    <a:solidFill>
                      <a:srgbClr val="44495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6/24~6/25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4377313" y="7453997"/>
              <a:ext cx="19426779" cy="811548"/>
              <a:chOff x="0" y="0"/>
              <a:chExt cx="18321871" cy="76539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832178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832178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7939131" y="0"/>
                    </a:lnTo>
                    <a:cubicBezTo>
                      <a:pt x="18150460" y="0"/>
                      <a:pt x="18321782" y="171323"/>
                      <a:pt x="18321782" y="382651"/>
                    </a:cubicBezTo>
                    <a:cubicBezTo>
                      <a:pt x="18321782" y="593979"/>
                      <a:pt x="18150460" y="765302"/>
                      <a:pt x="1793913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DEE3E9"/>
                </a:solidFill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1441275" y="7453997"/>
              <a:ext cx="2362817" cy="811548"/>
              <a:chOff x="0" y="0"/>
              <a:chExt cx="2228431" cy="765391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228342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2228342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1845691" y="0"/>
                    </a:lnTo>
                    <a:cubicBezTo>
                      <a:pt x="2057019" y="0"/>
                      <a:pt x="2228342" y="171323"/>
                      <a:pt x="2228342" y="382651"/>
                    </a:cubicBezTo>
                    <a:cubicBezTo>
                      <a:pt x="2228342" y="593979"/>
                      <a:pt x="2057019" y="765302"/>
                      <a:pt x="1845691" y="765302"/>
                    </a:cubicBezTo>
                    <a:lnTo>
                      <a:pt x="382651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close/>
                  </a:path>
                </a:pathLst>
              </a:custGeom>
              <a:solidFill>
                <a:srgbClr val="0064E0"/>
              </a:solidFill>
              <a:ln w="25400" cap="sq">
                <a:solidFill>
                  <a:srgbClr val="0064E0"/>
                </a:solidFill>
                <a:prstDash val="solid"/>
                <a:miter/>
              </a:ln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2317936" y="9224206"/>
              <a:ext cx="682276" cy="501294"/>
              <a:chOff x="0" y="0"/>
              <a:chExt cx="643471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643382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643382">
                    <a:moveTo>
                      <a:pt x="0" y="105029"/>
                    </a:moveTo>
                    <a:cubicBezTo>
                      <a:pt x="0" y="46990"/>
                      <a:pt x="46990" y="0"/>
                      <a:pt x="105029" y="0"/>
                    </a:cubicBezTo>
                    <a:lnTo>
                      <a:pt x="538353" y="0"/>
                    </a:lnTo>
                    <a:cubicBezTo>
                      <a:pt x="596392" y="0"/>
                      <a:pt x="643382" y="46990"/>
                      <a:pt x="643382" y="105029"/>
                    </a:cubicBezTo>
                    <a:lnTo>
                      <a:pt x="643382" y="367665"/>
                    </a:lnTo>
                    <a:cubicBezTo>
                      <a:pt x="643382" y="425704"/>
                      <a:pt x="596392" y="472694"/>
                      <a:pt x="538353" y="472694"/>
                    </a:cubicBezTo>
                    <a:lnTo>
                      <a:pt x="105029" y="472694"/>
                    </a:lnTo>
                    <a:cubicBezTo>
                      <a:pt x="46990" y="472821"/>
                      <a:pt x="0" y="425704"/>
                      <a:pt x="0" y="367665"/>
                    </a:cubicBezTo>
                    <a:close/>
                  </a:path>
                </a:pathLst>
              </a:custGeom>
              <a:solidFill>
                <a:srgbClr val="0064E0"/>
              </a:solidFill>
              <a:ln w="25400" cap="sq">
                <a:solidFill>
                  <a:srgbClr val="0064E0"/>
                </a:solidFill>
                <a:prstDash val="solid"/>
                <a:miter/>
              </a:ln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3111520" y="9216301"/>
              <a:ext cx="3878173" cy="517090"/>
              <a:chOff x="0" y="0"/>
              <a:chExt cx="3657600" cy="48768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3657600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6137" r="0" b="-96137"/>
                </a:stretch>
              </a:blip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47625"/>
                <a:ext cx="3657600" cy="5353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팀 공통</a:t>
                </a: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7230288" y="9224206"/>
              <a:ext cx="682276" cy="501294"/>
              <a:chOff x="0" y="0"/>
              <a:chExt cx="643471" cy="472783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643382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643382">
                    <a:moveTo>
                      <a:pt x="0" y="105029"/>
                    </a:moveTo>
                    <a:cubicBezTo>
                      <a:pt x="0" y="46990"/>
                      <a:pt x="46990" y="0"/>
                      <a:pt x="105029" y="0"/>
                    </a:cubicBezTo>
                    <a:lnTo>
                      <a:pt x="538353" y="0"/>
                    </a:lnTo>
                    <a:cubicBezTo>
                      <a:pt x="596392" y="0"/>
                      <a:pt x="643382" y="46990"/>
                      <a:pt x="643382" y="105029"/>
                    </a:cubicBezTo>
                    <a:lnTo>
                      <a:pt x="643382" y="367665"/>
                    </a:lnTo>
                    <a:cubicBezTo>
                      <a:pt x="643382" y="425704"/>
                      <a:pt x="596392" y="472694"/>
                      <a:pt x="538353" y="472694"/>
                    </a:cubicBezTo>
                    <a:lnTo>
                      <a:pt x="105029" y="472694"/>
                    </a:lnTo>
                    <a:cubicBezTo>
                      <a:pt x="46990" y="472821"/>
                      <a:pt x="0" y="425704"/>
                      <a:pt x="0" y="367665"/>
                    </a:cubicBezTo>
                    <a:close/>
                  </a:path>
                </a:pathLst>
              </a:custGeom>
              <a:solidFill>
                <a:srgbClr val="0A1317"/>
              </a:solidFill>
              <a:ln w="25400" cap="sq">
                <a:solidFill>
                  <a:srgbClr val="0A1317"/>
                </a:solidFill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8023873" y="9216301"/>
              <a:ext cx="3878173" cy="517090"/>
              <a:chOff x="0" y="0"/>
              <a:chExt cx="3657600" cy="48768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657600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6137" r="0" b="-96137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3657600" cy="5353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99"/>
                  </a:lnSpc>
                </a:pPr>
                <a:r>
                  <a:rPr lang="en-US" sz="1999">
                    <a:solidFill>
                      <a:srgbClr val="8595A4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개발 단계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개인별 개발 일정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Individual Development Schedule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560" y="2889504"/>
            <a:ext cx="8543012" cy="839788"/>
            <a:chOff x="0" y="0"/>
            <a:chExt cx="10762831" cy="10579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762869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11739" y="0"/>
                  </a:lnTo>
                  <a:cubicBezTo>
                    <a:pt x="10695178" y="0"/>
                    <a:pt x="10762869" y="67691"/>
                    <a:pt x="10762869" y="151130"/>
                  </a:cubicBezTo>
                  <a:lnTo>
                    <a:pt x="10762869" y="906780"/>
                  </a:lnTo>
                  <a:cubicBezTo>
                    <a:pt x="10762869" y="990219"/>
                    <a:pt x="10695178" y="1057910"/>
                    <a:pt x="10611739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3998" y="2902941"/>
            <a:ext cx="8516126" cy="812903"/>
            <a:chOff x="0" y="0"/>
            <a:chExt cx="1072896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7289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설문혁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014" y="3866651"/>
            <a:ext cx="2516128" cy="820430"/>
            <a:chOff x="0" y="0"/>
            <a:chExt cx="3169920" cy="10336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69920" cy="1033611"/>
            </a:xfrm>
            <a:custGeom>
              <a:avLst/>
              <a:gdLst/>
              <a:ahLst/>
              <a:cxnLst/>
              <a:rect r="r" b="b" t="t" l="l"/>
              <a:pathLst>
                <a:path h="1033611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70" r="0" b="48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6992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사용자 인증 · JWT (5/29)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46819" y="4058183"/>
            <a:ext cx="5736561" cy="452691"/>
            <a:chOff x="0" y="0"/>
            <a:chExt cx="7227151" cy="5703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746819" y="4058183"/>
            <a:ext cx="2881723" cy="452691"/>
            <a:chOff x="0" y="0"/>
            <a:chExt cx="3630511" cy="570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30422" cy="570230"/>
            </a:xfrm>
            <a:custGeom>
              <a:avLst/>
              <a:gdLst/>
              <a:ahLst/>
              <a:cxnLst/>
              <a:rect r="r" b="b" t="t" l="l"/>
              <a:pathLst>
                <a:path h="570230" w="363042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3345307" y="0"/>
                  </a:lnTo>
                  <a:cubicBezTo>
                    <a:pt x="3502787" y="0"/>
                    <a:pt x="3630422" y="127635"/>
                    <a:pt x="3630422" y="285115"/>
                  </a:cubicBezTo>
                  <a:cubicBezTo>
                    <a:pt x="3630422" y="442595"/>
                    <a:pt x="3502787" y="570230"/>
                    <a:pt x="334530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6014" y="5882779"/>
            <a:ext cx="2516128" cy="820430"/>
            <a:chOff x="0" y="0"/>
            <a:chExt cx="3169920" cy="10336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0" cy="1033611"/>
            </a:xfrm>
            <a:custGeom>
              <a:avLst/>
              <a:gdLst/>
              <a:ahLst/>
              <a:cxnLst/>
              <a:rect r="r" b="b" t="t" l="l"/>
              <a:pathLst>
                <a:path h="1033611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70" r="0" b="48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6992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관리자 API · 매물 권한 분리 (6/4)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46819" y="6074311"/>
            <a:ext cx="5736561" cy="452691"/>
            <a:chOff x="0" y="0"/>
            <a:chExt cx="7227151" cy="5703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885932" y="6074311"/>
            <a:ext cx="2596239" cy="452691"/>
            <a:chOff x="0" y="0"/>
            <a:chExt cx="3270847" cy="5703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70758" cy="570230"/>
            </a:xfrm>
            <a:custGeom>
              <a:avLst/>
              <a:gdLst/>
              <a:ahLst/>
              <a:cxnLst/>
              <a:rect r="r" b="b" t="t" l="l"/>
              <a:pathLst>
                <a:path h="570230" w="3270758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985643" y="0"/>
                  </a:lnTo>
                  <a:cubicBezTo>
                    <a:pt x="3143123" y="0"/>
                    <a:pt x="3270758" y="127635"/>
                    <a:pt x="3270758" y="285115"/>
                  </a:cubicBezTo>
                  <a:cubicBezTo>
                    <a:pt x="3270758" y="442595"/>
                    <a:pt x="3143123" y="570230"/>
                    <a:pt x="2985643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6014" y="7898908"/>
            <a:ext cx="2516128" cy="1173253"/>
            <a:chOff x="0" y="0"/>
            <a:chExt cx="3169920" cy="1478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69920" cy="1478111"/>
            </a:xfrm>
            <a:custGeom>
              <a:avLst/>
              <a:gdLst/>
              <a:ahLst/>
              <a:cxnLst/>
              <a:rect r="r" b="b" t="t" l="l"/>
              <a:pathLst>
                <a:path h="1478111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478111"/>
                  </a:lnTo>
                  <a:lnTo>
                    <a:pt x="0" y="1478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2" r="0" b="334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169920" cy="1525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회원가입/로그인 · 마이페이지 · 관리자 화면 (6/6~)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46819" y="8261811"/>
            <a:ext cx="5736561" cy="452691"/>
            <a:chOff x="0" y="0"/>
            <a:chExt cx="7227151" cy="5703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101693" y="8261811"/>
            <a:ext cx="2381687" cy="452691"/>
            <a:chOff x="0" y="0"/>
            <a:chExt cx="3000546" cy="570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00442" cy="570230"/>
            </a:xfrm>
            <a:custGeom>
              <a:avLst/>
              <a:gdLst/>
              <a:ahLst/>
              <a:cxnLst/>
              <a:rect r="r" b="b" t="t" l="l"/>
              <a:pathLst>
                <a:path h="570230" w="3000442">
                  <a:moveTo>
                    <a:pt x="0" y="285115"/>
                  </a:moveTo>
                  <a:cubicBezTo>
                    <a:pt x="0" y="127635"/>
                    <a:pt x="150097" y="0"/>
                    <a:pt x="335291" y="0"/>
                  </a:cubicBezTo>
                  <a:lnTo>
                    <a:pt x="2665151" y="0"/>
                  </a:lnTo>
                  <a:cubicBezTo>
                    <a:pt x="2850345" y="0"/>
                    <a:pt x="3000442" y="127635"/>
                    <a:pt x="3000442" y="285115"/>
                  </a:cubicBezTo>
                  <a:cubicBezTo>
                    <a:pt x="3000442" y="442595"/>
                    <a:pt x="2850345" y="570230"/>
                    <a:pt x="2665151" y="570230"/>
                  </a:cubicBezTo>
                  <a:lnTo>
                    <a:pt x="335291" y="570230"/>
                  </a:lnTo>
                  <a:cubicBezTo>
                    <a:pt x="150097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14428" y="2889504"/>
            <a:ext cx="8543012" cy="839788"/>
            <a:chOff x="0" y="0"/>
            <a:chExt cx="10762831" cy="1057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869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762869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0611739" y="0"/>
                  </a:lnTo>
                  <a:cubicBezTo>
                    <a:pt x="10695178" y="0"/>
                    <a:pt x="10762869" y="67691"/>
                    <a:pt x="10762869" y="151130"/>
                  </a:cubicBezTo>
                  <a:lnTo>
                    <a:pt x="10762869" y="906780"/>
                  </a:lnTo>
                  <a:cubicBezTo>
                    <a:pt x="10762869" y="990219"/>
                    <a:pt x="10695178" y="1057910"/>
                    <a:pt x="10611739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0A1317"/>
            </a:solidFill>
            <a:ln w="25400" cap="sq">
              <a:solidFill>
                <a:srgbClr val="0A131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27866" y="2902941"/>
            <a:ext cx="8516126" cy="812903"/>
            <a:chOff x="0" y="0"/>
            <a:chExt cx="1072896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7289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정상훈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31898" y="3866651"/>
            <a:ext cx="2516128" cy="1173253"/>
            <a:chOff x="0" y="0"/>
            <a:chExt cx="3169920" cy="14781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69920" cy="1478111"/>
            </a:xfrm>
            <a:custGeom>
              <a:avLst/>
              <a:gdLst/>
              <a:ahLst/>
              <a:cxnLst/>
              <a:rect r="r" b="b" t="t" l="l"/>
              <a:pathLst>
                <a:path h="1478111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478111"/>
                  </a:lnTo>
                  <a:lnTo>
                    <a:pt x="0" y="1478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2" r="0" b="334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169920" cy="1525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 파싱 · 매물 / </a:t>
              </a:r>
            </a:p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이미지 / 관심매물 API (6/2~6/8)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22623" y="4229554"/>
            <a:ext cx="5736561" cy="452691"/>
            <a:chOff x="0" y="0"/>
            <a:chExt cx="7227151" cy="5703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222623" y="4229554"/>
            <a:ext cx="2596239" cy="452691"/>
            <a:chOff x="0" y="0"/>
            <a:chExt cx="3270847" cy="5703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70758" cy="570230"/>
            </a:xfrm>
            <a:custGeom>
              <a:avLst/>
              <a:gdLst/>
              <a:ahLst/>
              <a:cxnLst/>
              <a:rect r="r" b="b" t="t" l="l"/>
              <a:pathLst>
                <a:path h="570230" w="3270758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985643" y="0"/>
                  </a:lnTo>
                  <a:cubicBezTo>
                    <a:pt x="3143123" y="0"/>
                    <a:pt x="3270758" y="127635"/>
                    <a:pt x="3270758" y="285115"/>
                  </a:cubicBezTo>
                  <a:cubicBezTo>
                    <a:pt x="3270758" y="442595"/>
                    <a:pt x="3143123" y="570230"/>
                    <a:pt x="2985643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A1317"/>
            </a:solidFill>
            <a:ln w="25400" cap="sq">
              <a:solidFill>
                <a:srgbClr val="0A131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31898" y="5882779"/>
            <a:ext cx="2516128" cy="1173253"/>
            <a:chOff x="0" y="0"/>
            <a:chExt cx="3169920" cy="14781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69920" cy="1478111"/>
            </a:xfrm>
            <a:custGeom>
              <a:avLst/>
              <a:gdLst/>
              <a:ahLst/>
              <a:cxnLst/>
              <a:rect r="r" b="b" t="t" l="l"/>
              <a:pathLst>
                <a:path h="1478111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478111"/>
                  </a:lnTo>
                  <a:lnTo>
                    <a:pt x="0" y="1478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2" r="0" b="3346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169920" cy="1525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위험도 분석 · 설문홈즈 추천 · 카카오 지도 (6/8~)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22623" y="6245682"/>
            <a:ext cx="5736561" cy="452691"/>
            <a:chOff x="0" y="0"/>
            <a:chExt cx="7227151" cy="5703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936332" y="6245682"/>
            <a:ext cx="2424949" cy="452691"/>
            <a:chOff x="0" y="0"/>
            <a:chExt cx="3055048" cy="5703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54985" cy="570357"/>
            </a:xfrm>
            <a:custGeom>
              <a:avLst/>
              <a:gdLst/>
              <a:ahLst/>
              <a:cxnLst/>
              <a:rect r="r" b="b" t="t" l="l"/>
              <a:pathLst>
                <a:path h="570357" w="3054985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769870" y="0"/>
                  </a:lnTo>
                  <a:cubicBezTo>
                    <a:pt x="2927350" y="0"/>
                    <a:pt x="3054985" y="127635"/>
                    <a:pt x="3054985" y="285115"/>
                  </a:cubicBezTo>
                  <a:cubicBezTo>
                    <a:pt x="3054985" y="442595"/>
                    <a:pt x="2927350" y="570357"/>
                    <a:pt x="2769870" y="570357"/>
                  </a:cubicBezTo>
                  <a:lnTo>
                    <a:pt x="285115" y="570357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A1317"/>
            </a:solidFill>
            <a:ln w="25400" cap="sq">
              <a:solidFill>
                <a:srgbClr val="0A131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31898" y="7898908"/>
            <a:ext cx="2520161" cy="1225403"/>
            <a:chOff x="0" y="0"/>
            <a:chExt cx="3175000" cy="15438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75000" cy="1543812"/>
            </a:xfrm>
            <a:custGeom>
              <a:avLst/>
              <a:gdLst/>
              <a:ahLst/>
              <a:cxnLst/>
              <a:rect r="r" b="b" t="t" l="l"/>
              <a:pathLst>
                <a:path h="1543812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543812"/>
                  </a:lnTo>
                  <a:lnTo>
                    <a:pt x="0" y="15438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6" r="160" b="3629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3175000" cy="159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444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오케스트레이터 · RAG 서비스 · 성능 최적화 · UI (6/17~)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22623" y="8292053"/>
            <a:ext cx="5736561" cy="452691"/>
            <a:chOff x="0" y="0"/>
            <a:chExt cx="7227151" cy="5703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27062" cy="570230"/>
            </a:xfrm>
            <a:custGeom>
              <a:avLst/>
              <a:gdLst/>
              <a:ahLst/>
              <a:cxnLst/>
              <a:rect r="r" b="b" t="t" l="l"/>
              <a:pathLst>
                <a:path h="570230" w="7227062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6941947" y="0"/>
                  </a:lnTo>
                  <a:cubicBezTo>
                    <a:pt x="7099427" y="0"/>
                    <a:pt x="7227062" y="127635"/>
                    <a:pt x="7227062" y="285115"/>
                  </a:cubicBezTo>
                  <a:cubicBezTo>
                    <a:pt x="7227062" y="442595"/>
                    <a:pt x="7099427" y="570230"/>
                    <a:pt x="6941947" y="570230"/>
                  </a:cubicBez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916092" y="8292053"/>
            <a:ext cx="2043092" cy="452691"/>
            <a:chOff x="0" y="0"/>
            <a:chExt cx="2573970" cy="5703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73865" cy="570230"/>
            </a:xfrm>
            <a:custGeom>
              <a:avLst/>
              <a:gdLst/>
              <a:ahLst/>
              <a:cxnLst/>
              <a:rect r="r" b="b" t="t" l="l"/>
              <a:pathLst>
                <a:path h="570230" w="2573865">
                  <a:moveTo>
                    <a:pt x="0" y="285115"/>
                  </a:moveTo>
                  <a:cubicBezTo>
                    <a:pt x="0" y="127635"/>
                    <a:pt x="149886" y="0"/>
                    <a:pt x="334820" y="0"/>
                  </a:cubicBezTo>
                  <a:lnTo>
                    <a:pt x="2239045" y="0"/>
                  </a:lnTo>
                  <a:cubicBezTo>
                    <a:pt x="2423979" y="0"/>
                    <a:pt x="2573865" y="127635"/>
                    <a:pt x="2573865" y="285115"/>
                  </a:cubicBezTo>
                  <a:cubicBezTo>
                    <a:pt x="2573865" y="442595"/>
                    <a:pt x="2423979" y="570230"/>
                    <a:pt x="2239045" y="570230"/>
                  </a:cubicBezTo>
                  <a:lnTo>
                    <a:pt x="334820" y="570230"/>
                  </a:lnTo>
                  <a:cubicBezTo>
                    <a:pt x="149886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A1317"/>
            </a:solidFill>
            <a:ln w="25400" cap="sq">
              <a:solidFill>
                <a:srgbClr val="0A1317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기술 스택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Stack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762689" y="2024386"/>
            <a:ext cx="10762622" cy="8184820"/>
          </a:xfrm>
          <a:custGeom>
            <a:avLst/>
            <a:gdLst/>
            <a:ahLst/>
            <a:cxnLst/>
            <a:rect r="r" b="b" t="t" l="l"/>
            <a:pathLst>
              <a:path h="8184820" w="10762622">
                <a:moveTo>
                  <a:pt x="0" y="0"/>
                </a:moveTo>
                <a:lnTo>
                  <a:pt x="10762622" y="0"/>
                </a:lnTo>
                <a:lnTo>
                  <a:pt x="10762622" y="8184820"/>
                </a:lnTo>
                <a:lnTo>
                  <a:pt x="0" y="8184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5298" y="1083940"/>
            <a:ext cx="4597403" cy="4597403"/>
            <a:chOff x="0" y="0"/>
            <a:chExt cx="6129871" cy="612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299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cubicBezTo>
                    <a:pt x="4757547" y="0"/>
                    <a:pt x="6129909" y="1372235"/>
                    <a:pt x="6129909" y="3064891"/>
                  </a:cubicBezTo>
                  <a:cubicBezTo>
                    <a:pt x="6129909" y="4757547"/>
                    <a:pt x="4757674" y="6129909"/>
                    <a:pt x="3064891" y="6129909"/>
                  </a:cubicBezTo>
                  <a:cubicBezTo>
                    <a:pt x="1372108" y="6129909"/>
                    <a:pt x="0" y="4757674"/>
                    <a:pt x="0" y="3064891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375904" y="2614546"/>
            <a:ext cx="1536192" cy="1536192"/>
            <a:chOff x="0" y="0"/>
            <a:chExt cx="2048256" cy="204825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984591" cy="1984591"/>
              <a:chOff x="0" y="0"/>
              <a:chExt cx="1984591" cy="198459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84502" cy="1984502"/>
              </a:xfrm>
              <a:custGeom>
                <a:avLst/>
                <a:gdLst/>
                <a:ahLst/>
                <a:cxnLst/>
                <a:rect r="r" b="b" t="t" l="l"/>
                <a:pathLst>
                  <a:path h="1984502" w="1984502">
                    <a:moveTo>
                      <a:pt x="0" y="992251"/>
                    </a:moveTo>
                    <a:cubicBezTo>
                      <a:pt x="0" y="444246"/>
                      <a:pt x="444246" y="0"/>
                      <a:pt x="992251" y="0"/>
                    </a:cubicBezTo>
                    <a:cubicBezTo>
                      <a:pt x="1540256" y="0"/>
                      <a:pt x="1984502" y="444246"/>
                      <a:pt x="1984502" y="992251"/>
                    </a:cubicBezTo>
                    <a:cubicBezTo>
                      <a:pt x="1984502" y="1540256"/>
                      <a:pt x="1540256" y="1984502"/>
                      <a:pt x="992251" y="1984502"/>
                    </a:cubicBezTo>
                    <a:cubicBezTo>
                      <a:pt x="444246" y="1984502"/>
                      <a:pt x="0" y="1540383"/>
                      <a:pt x="0" y="992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48256" cy="2048256"/>
              <a:chOff x="0" y="0"/>
              <a:chExt cx="2048256" cy="20482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48256" cy="2048256"/>
              </a:xfrm>
              <a:custGeom>
                <a:avLst/>
                <a:gdLst/>
                <a:ahLst/>
                <a:cxnLst/>
                <a:rect r="r" b="b" t="t" l="l"/>
                <a:pathLst>
                  <a:path h="2048256" w="2048256">
                    <a:moveTo>
                      <a:pt x="0" y="0"/>
                    </a:moveTo>
                    <a:lnTo>
                      <a:pt x="2048256" y="0"/>
                    </a:lnTo>
                    <a:lnTo>
                      <a:pt x="2048256" y="2048256"/>
                    </a:lnTo>
                    <a:lnTo>
                      <a:pt x="0" y="20482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85725"/>
                <a:ext cx="2048256" cy="21339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759"/>
                  </a:lnSpc>
                </a:pPr>
                <a:r>
                  <a:rPr lang="en-US" sz="4800">
                    <a:solidFill>
                      <a:srgbClr val="0064E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▶</a:t>
                </a: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914400" y="6538593"/>
            <a:ext cx="16459200" cy="1097280"/>
            <a:chOff x="0" y="0"/>
            <a:chExt cx="2194560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시연 영상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19623" y="8482713"/>
            <a:ext cx="4048763" cy="720347"/>
            <a:chOff x="0" y="0"/>
            <a:chExt cx="5398351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98262" cy="960374"/>
            </a:xfrm>
            <a:custGeom>
              <a:avLst/>
              <a:gdLst/>
              <a:ahLst/>
              <a:cxnLst/>
              <a:rect r="r" b="b" t="t" l="l"/>
              <a:pathLst>
                <a:path h="960374" w="5398262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918075" y="0"/>
                  </a:lnTo>
                  <a:cubicBezTo>
                    <a:pt x="5183251" y="0"/>
                    <a:pt x="5398262" y="215011"/>
                    <a:pt x="5398262" y="480187"/>
                  </a:cubicBezTo>
                  <a:cubicBezTo>
                    <a:pt x="5398262" y="745363"/>
                    <a:pt x="5183251" y="960374"/>
                    <a:pt x="4918075" y="960374"/>
                  </a:cubicBez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32320" y="8495409"/>
            <a:ext cx="4023360" cy="694944"/>
            <a:chOff x="0" y="0"/>
            <a:chExt cx="536448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재생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342900"/>
            <a:ext cx="114300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자취TI 설문 기반 맞춤 매물 추천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1104900"/>
            <a:ext cx="1143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설문 → 유형 판정 → 매물 추천 파이프라인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60892" y="3640947"/>
            <a:ext cx="3392239" cy="1396804"/>
            <a:chOff x="0" y="0"/>
            <a:chExt cx="4318000" cy="177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318000">
                  <a:moveTo>
                    <a:pt x="188912" y="0"/>
                  </a:moveTo>
                  <a:lnTo>
                    <a:pt x="4129088" y="0"/>
                  </a:lnTo>
                  <a:cubicBezTo>
                    <a:pt x="4233421" y="0"/>
                    <a:pt x="4318000" y="79604"/>
                    <a:pt x="4318000" y="177800"/>
                  </a:cubicBezTo>
                  <a:lnTo>
                    <a:pt x="4318000" y="1600200"/>
                  </a:lnTo>
                  <a:cubicBezTo>
                    <a:pt x="4318000" y="1698396"/>
                    <a:pt x="4233421" y="1778000"/>
                    <a:pt x="4129088" y="1778000"/>
                  </a:cubicBezTo>
                  <a:lnTo>
                    <a:pt x="188912" y="1778000"/>
                  </a:lnTo>
                  <a:cubicBezTo>
                    <a:pt x="84579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4579" y="0"/>
                    <a:pt x="188912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1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77423" y="3461358"/>
            <a:ext cx="359178" cy="438996"/>
            <a:chOff x="0" y="0"/>
            <a:chExt cx="4572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" cy="558800"/>
            </a:xfrm>
            <a:custGeom>
              <a:avLst/>
              <a:gdLst/>
              <a:ahLst/>
              <a:cxnLst/>
              <a:rect r="r" b="b" t="t" l="l"/>
              <a:pathLst>
                <a:path h="558800" w="457200">
                  <a:moveTo>
                    <a:pt x="228600" y="0"/>
                  </a:moveTo>
                  <a:cubicBezTo>
                    <a:pt x="102348" y="0"/>
                    <a:pt x="0" y="125092"/>
                    <a:pt x="0" y="279400"/>
                  </a:cubicBezTo>
                  <a:cubicBezTo>
                    <a:pt x="0" y="433708"/>
                    <a:pt x="102348" y="558800"/>
                    <a:pt x="228600" y="558800"/>
                  </a:cubicBezTo>
                  <a:cubicBezTo>
                    <a:pt x="354852" y="558800"/>
                    <a:pt x="457200" y="433708"/>
                    <a:pt x="457200" y="279400"/>
                  </a:cubicBezTo>
                  <a:cubicBezTo>
                    <a:pt x="457200" y="125092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60436" y="3892637"/>
            <a:ext cx="2993152" cy="4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410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설문 응답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0436" y="4351135"/>
            <a:ext cx="2993152" cy="2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라이프스타일 질문 답변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3131" y="4023245"/>
            <a:ext cx="399087" cy="5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2"/>
              </a:lnSpc>
              <a:spcBef>
                <a:spcPct val="0"/>
              </a:spcBef>
            </a:pPr>
            <a:r>
              <a:rPr lang="en-US" b="true" sz="3351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552218" y="3640947"/>
            <a:ext cx="3392239" cy="1396804"/>
            <a:chOff x="0" y="0"/>
            <a:chExt cx="4318000" cy="17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1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318000">
                  <a:moveTo>
                    <a:pt x="188912" y="0"/>
                  </a:moveTo>
                  <a:lnTo>
                    <a:pt x="4129088" y="0"/>
                  </a:lnTo>
                  <a:cubicBezTo>
                    <a:pt x="4233421" y="0"/>
                    <a:pt x="4318000" y="79604"/>
                    <a:pt x="4318000" y="177800"/>
                  </a:cubicBezTo>
                  <a:lnTo>
                    <a:pt x="4318000" y="1600200"/>
                  </a:lnTo>
                  <a:cubicBezTo>
                    <a:pt x="4318000" y="1698396"/>
                    <a:pt x="4233421" y="1778000"/>
                    <a:pt x="4129088" y="1778000"/>
                  </a:cubicBezTo>
                  <a:lnTo>
                    <a:pt x="188912" y="1778000"/>
                  </a:lnTo>
                  <a:cubicBezTo>
                    <a:pt x="84579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4579" y="0"/>
                    <a:pt x="188912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1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68748" y="3461358"/>
            <a:ext cx="359178" cy="438996"/>
            <a:chOff x="0" y="0"/>
            <a:chExt cx="457200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" cy="558800"/>
            </a:xfrm>
            <a:custGeom>
              <a:avLst/>
              <a:gdLst/>
              <a:ahLst/>
              <a:cxnLst/>
              <a:rect r="r" b="b" t="t" l="l"/>
              <a:pathLst>
                <a:path h="558800" w="457200">
                  <a:moveTo>
                    <a:pt x="228600" y="0"/>
                  </a:moveTo>
                  <a:cubicBezTo>
                    <a:pt x="102348" y="0"/>
                    <a:pt x="0" y="125092"/>
                    <a:pt x="0" y="279400"/>
                  </a:cubicBezTo>
                  <a:cubicBezTo>
                    <a:pt x="0" y="433708"/>
                    <a:pt x="102348" y="558800"/>
                    <a:pt x="228600" y="558800"/>
                  </a:cubicBezTo>
                  <a:cubicBezTo>
                    <a:pt x="354852" y="558800"/>
                    <a:pt x="457200" y="433708"/>
                    <a:pt x="457200" y="279400"/>
                  </a:cubicBezTo>
                  <a:cubicBezTo>
                    <a:pt x="457200" y="125092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57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51761" y="3892637"/>
            <a:ext cx="2993152" cy="4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410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유형 판정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51761" y="4351135"/>
            <a:ext cx="2993152" cy="51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8가지 자취TI 타입 중</a:t>
            </a:r>
          </a:p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1개 결정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44457" y="4023245"/>
            <a:ext cx="399087" cy="5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2"/>
              </a:lnSpc>
              <a:spcBef>
                <a:spcPct val="0"/>
              </a:spcBef>
            </a:pPr>
            <a:r>
              <a:rPr lang="en-US" b="true" sz="3351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43543" y="3640947"/>
            <a:ext cx="3392239" cy="1396804"/>
            <a:chOff x="0" y="0"/>
            <a:chExt cx="4318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1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318000">
                  <a:moveTo>
                    <a:pt x="188912" y="0"/>
                  </a:moveTo>
                  <a:lnTo>
                    <a:pt x="4129088" y="0"/>
                  </a:lnTo>
                  <a:cubicBezTo>
                    <a:pt x="4233421" y="0"/>
                    <a:pt x="4318000" y="79604"/>
                    <a:pt x="4318000" y="177800"/>
                  </a:cubicBezTo>
                  <a:lnTo>
                    <a:pt x="4318000" y="1600200"/>
                  </a:lnTo>
                  <a:cubicBezTo>
                    <a:pt x="4318000" y="1698396"/>
                    <a:pt x="4233421" y="1778000"/>
                    <a:pt x="4129088" y="1778000"/>
                  </a:cubicBezTo>
                  <a:lnTo>
                    <a:pt x="188912" y="1778000"/>
                  </a:lnTo>
                  <a:cubicBezTo>
                    <a:pt x="84579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4579" y="0"/>
                    <a:pt x="188912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1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860074" y="3461358"/>
            <a:ext cx="359178" cy="438996"/>
            <a:chOff x="0" y="0"/>
            <a:chExt cx="457200" cy="55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" cy="558800"/>
            </a:xfrm>
            <a:custGeom>
              <a:avLst/>
              <a:gdLst/>
              <a:ahLst/>
              <a:cxnLst/>
              <a:rect r="r" b="b" t="t" l="l"/>
              <a:pathLst>
                <a:path h="558800" w="457200">
                  <a:moveTo>
                    <a:pt x="228600" y="0"/>
                  </a:moveTo>
                  <a:cubicBezTo>
                    <a:pt x="102348" y="0"/>
                    <a:pt x="0" y="125092"/>
                    <a:pt x="0" y="279400"/>
                  </a:cubicBezTo>
                  <a:cubicBezTo>
                    <a:pt x="0" y="433708"/>
                    <a:pt x="102348" y="558800"/>
                    <a:pt x="228600" y="558800"/>
                  </a:cubicBezTo>
                  <a:cubicBezTo>
                    <a:pt x="354852" y="558800"/>
                    <a:pt x="457200" y="433708"/>
                    <a:pt x="457200" y="279400"/>
                  </a:cubicBezTo>
                  <a:cubicBezTo>
                    <a:pt x="457200" y="125092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57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543087" y="3892637"/>
            <a:ext cx="2993152" cy="4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410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조건 대조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3087" y="4351135"/>
            <a:ext cx="2993152" cy="51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7가지 항목 가중치</a:t>
            </a:r>
          </a:p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점수 산출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35782" y="4023245"/>
            <a:ext cx="399087" cy="5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2"/>
              </a:lnSpc>
              <a:spcBef>
                <a:spcPct val="0"/>
              </a:spcBef>
            </a:pPr>
            <a:r>
              <a:rPr lang="en-US" b="true" sz="3351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134869" y="3640947"/>
            <a:ext cx="3392239" cy="1396804"/>
            <a:chOff x="0" y="0"/>
            <a:chExt cx="4318000" cy="177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1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318000">
                  <a:moveTo>
                    <a:pt x="188912" y="0"/>
                  </a:moveTo>
                  <a:lnTo>
                    <a:pt x="4129088" y="0"/>
                  </a:lnTo>
                  <a:cubicBezTo>
                    <a:pt x="4233421" y="0"/>
                    <a:pt x="4318000" y="79604"/>
                    <a:pt x="4318000" y="177800"/>
                  </a:cubicBezTo>
                  <a:lnTo>
                    <a:pt x="4318000" y="1600200"/>
                  </a:lnTo>
                  <a:cubicBezTo>
                    <a:pt x="4318000" y="1698396"/>
                    <a:pt x="4233421" y="1778000"/>
                    <a:pt x="4129088" y="1778000"/>
                  </a:cubicBezTo>
                  <a:lnTo>
                    <a:pt x="188912" y="1778000"/>
                  </a:lnTo>
                  <a:cubicBezTo>
                    <a:pt x="84579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84579" y="0"/>
                    <a:pt x="188912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31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651399" y="3461358"/>
            <a:ext cx="359178" cy="438996"/>
            <a:chOff x="0" y="0"/>
            <a:chExt cx="457200" cy="55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" cy="558800"/>
            </a:xfrm>
            <a:custGeom>
              <a:avLst/>
              <a:gdLst/>
              <a:ahLst/>
              <a:cxnLst/>
              <a:rect r="r" b="b" t="t" l="l"/>
              <a:pathLst>
                <a:path h="558800" w="457200">
                  <a:moveTo>
                    <a:pt x="228600" y="0"/>
                  </a:moveTo>
                  <a:cubicBezTo>
                    <a:pt x="102348" y="0"/>
                    <a:pt x="0" y="125092"/>
                    <a:pt x="0" y="279400"/>
                  </a:cubicBezTo>
                  <a:cubicBezTo>
                    <a:pt x="0" y="433708"/>
                    <a:pt x="102348" y="558800"/>
                    <a:pt x="228600" y="558800"/>
                  </a:cubicBezTo>
                  <a:cubicBezTo>
                    <a:pt x="354852" y="558800"/>
                    <a:pt x="457200" y="433708"/>
                    <a:pt x="457200" y="279400"/>
                  </a:cubicBezTo>
                  <a:cubicBezTo>
                    <a:pt x="457200" y="125092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57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334412" y="3892637"/>
            <a:ext cx="2993152" cy="4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410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매물 추천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34412" y="4351135"/>
            <a:ext cx="2993152" cy="2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8"/>
              </a:lnSpc>
              <a:spcBef>
                <a:spcPct val="0"/>
              </a:spcBef>
            </a:pPr>
            <a:r>
              <a:rPr lang="en-US" sz="1512" strike="noStrike" u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점수 높은 순 정렬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511463" y="5586496"/>
            <a:ext cx="3591782" cy="698402"/>
            <a:chOff x="0" y="0"/>
            <a:chExt cx="4572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71098" y="5776062"/>
            <a:ext cx="598630" cy="319270"/>
            <a:chOff x="0" y="0"/>
            <a:chExt cx="762000" cy="406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425450" y="0"/>
                  </a:moveTo>
                  <a:cubicBezTo>
                    <a:pt x="611321" y="0"/>
                    <a:pt x="762000" y="90976"/>
                    <a:pt x="762000" y="203200"/>
                  </a:cubicBezTo>
                  <a:cubicBezTo>
                    <a:pt x="762000" y="315424"/>
                    <a:pt x="611321" y="406400"/>
                    <a:pt x="425450" y="406400"/>
                  </a:cubicBezTo>
                  <a:lnTo>
                    <a:pt x="336550" y="406400"/>
                  </a:lnTo>
                  <a:cubicBezTo>
                    <a:pt x="150679" y="406400"/>
                    <a:pt x="0" y="315424"/>
                    <a:pt x="0" y="203200"/>
                  </a:cubicBezTo>
                  <a:cubicBezTo>
                    <a:pt x="0" y="90976"/>
                    <a:pt x="150679" y="0"/>
                    <a:pt x="33655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20점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409408" y="5757916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주변 시설 수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402560" y="5586496"/>
            <a:ext cx="3591782" cy="698402"/>
            <a:chOff x="0" y="0"/>
            <a:chExt cx="4572000" cy="889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562195" y="5776062"/>
            <a:ext cx="598630" cy="319270"/>
            <a:chOff x="0" y="0"/>
            <a:chExt cx="762000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15점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300506" y="5757916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방 타입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293658" y="5586496"/>
            <a:ext cx="3591782" cy="698402"/>
            <a:chOff x="0" y="0"/>
            <a:chExt cx="4572000" cy="889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53292" y="5776062"/>
            <a:ext cx="598630" cy="319270"/>
            <a:chOff x="0" y="0"/>
            <a:chExt cx="762000" cy="406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15점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0191603" y="5757916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월세 한도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3184755" y="5586496"/>
            <a:ext cx="3591782" cy="698402"/>
            <a:chOff x="0" y="0"/>
            <a:chExt cx="4572000" cy="889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44390" y="5776062"/>
            <a:ext cx="598630" cy="319270"/>
            <a:chOff x="0" y="0"/>
            <a:chExt cx="762000" cy="406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15점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082700" y="5757916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보증금 한도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511463" y="6444533"/>
            <a:ext cx="3591782" cy="698402"/>
            <a:chOff x="0" y="0"/>
            <a:chExt cx="4572000" cy="889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71098" y="6634099"/>
            <a:ext cx="598630" cy="319270"/>
            <a:chOff x="0" y="0"/>
            <a:chExt cx="762000" cy="406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15점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2409408" y="6615953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시설 품질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5402560" y="6444533"/>
            <a:ext cx="3591782" cy="698402"/>
            <a:chOff x="0" y="0"/>
            <a:chExt cx="4572000" cy="889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562195" y="6634099"/>
            <a:ext cx="598630" cy="319270"/>
            <a:chOff x="0" y="0"/>
            <a:chExt cx="762000" cy="406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10점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6300506" y="6615953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면적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293658" y="6444533"/>
            <a:ext cx="3591782" cy="698402"/>
            <a:chOff x="0" y="0"/>
            <a:chExt cx="4572000" cy="889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88900" y="0"/>
                  </a:moveTo>
                  <a:lnTo>
                    <a:pt x="4483100" y="0"/>
                  </a:lnTo>
                  <a:cubicBezTo>
                    <a:pt x="4532198" y="0"/>
                    <a:pt x="4572000" y="39802"/>
                    <a:pt x="4572000" y="88900"/>
                  </a:cubicBezTo>
                  <a:lnTo>
                    <a:pt x="4572000" y="800100"/>
                  </a:lnTo>
                  <a:cubicBezTo>
                    <a:pt x="4572000" y="849198"/>
                    <a:pt x="4532198" y="889000"/>
                    <a:pt x="448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572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53292" y="6634099"/>
            <a:ext cx="598630" cy="319270"/>
            <a:chOff x="0" y="0"/>
            <a:chExt cx="762000" cy="406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62000" cy="406400"/>
            </a:xfrm>
            <a:custGeom>
              <a:avLst/>
              <a:gdLst/>
              <a:ahLst/>
              <a:cxnLst/>
              <a:rect r="r" b="b" t="t" l="l"/>
              <a:pathLst>
                <a:path h="406400" w="762000">
                  <a:moveTo>
                    <a:pt x="558800" y="0"/>
                  </a:moveTo>
                  <a:cubicBezTo>
                    <a:pt x="671024" y="0"/>
                    <a:pt x="762000" y="90976"/>
                    <a:pt x="762000" y="203200"/>
                  </a:cubicBezTo>
                  <a:cubicBezTo>
                    <a:pt x="762000" y="315424"/>
                    <a:pt x="671024" y="406400"/>
                    <a:pt x="558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7620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sz="1299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10점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0191603" y="6615953"/>
            <a:ext cx="2394521" cy="3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건축년도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153131" y="7413675"/>
            <a:ext cx="7981738" cy="26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99"/>
              </a:lnSpc>
              <a:spcBef>
                <a:spcPct val="0"/>
              </a:spcBef>
            </a:pPr>
            <a:r>
              <a:rPr lang="en-US" sz="1571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답하지 않은 항목은 자동 제외 — 응답한 조건만 반영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661121" y="7981017"/>
            <a:ext cx="4789043" cy="558722"/>
            <a:chOff x="0" y="0"/>
            <a:chExt cx="6096000" cy="711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5740400" y="0"/>
                  </a:moveTo>
                  <a:cubicBezTo>
                    <a:pt x="5936792" y="0"/>
                    <a:pt x="6096000" y="159208"/>
                    <a:pt x="6096000" y="355600"/>
                  </a:cubicBezTo>
                  <a:cubicBezTo>
                    <a:pt x="6096000" y="551992"/>
                    <a:pt x="5936792" y="711200"/>
                    <a:pt x="5740400" y="711200"/>
                  </a:cubicBezTo>
                  <a:lnTo>
                    <a:pt x="355600" y="711200"/>
                  </a:ln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추천 매물 1개 자동 선정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749479" y="7981017"/>
            <a:ext cx="4789043" cy="558722"/>
            <a:chOff x="0" y="0"/>
            <a:chExt cx="6096000" cy="711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5740400" y="0"/>
                  </a:moveTo>
                  <a:cubicBezTo>
                    <a:pt x="5936792" y="0"/>
                    <a:pt x="6096000" y="159208"/>
                    <a:pt x="6096000" y="355600"/>
                  </a:cubicBezTo>
                  <a:cubicBezTo>
                    <a:pt x="6096000" y="551992"/>
                    <a:pt x="5936792" y="711200"/>
                    <a:pt x="5740400" y="711200"/>
                  </a:cubicBezTo>
                  <a:lnTo>
                    <a:pt x="355600" y="711200"/>
                  </a:ln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매물별 장점 / 단점 자동 생성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837837" y="7981017"/>
            <a:ext cx="4789043" cy="558722"/>
            <a:chOff x="0" y="0"/>
            <a:chExt cx="6096000" cy="711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09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6096000">
                  <a:moveTo>
                    <a:pt x="5740400" y="0"/>
                  </a:moveTo>
                  <a:cubicBezTo>
                    <a:pt x="5936792" y="0"/>
                    <a:pt x="6096000" y="159208"/>
                    <a:pt x="6096000" y="355600"/>
                  </a:cubicBezTo>
                  <a:cubicBezTo>
                    <a:pt x="6096000" y="551992"/>
                    <a:pt x="5936792" y="711200"/>
                    <a:pt x="5740400" y="711200"/>
                  </a:cubicBezTo>
                  <a:lnTo>
                    <a:pt x="355600" y="711200"/>
                  </a:ln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096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AI 자연어 최종 답변 제공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47855" y="3939103"/>
            <a:ext cx="7029450" cy="3448050"/>
            <a:chOff x="0" y="0"/>
            <a:chExt cx="9372600" cy="459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726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9372600">
                  <a:moveTo>
                    <a:pt x="459740" y="0"/>
                  </a:moveTo>
                  <a:lnTo>
                    <a:pt x="8912860" y="0"/>
                  </a:lnTo>
                  <a:cubicBezTo>
                    <a:pt x="9034790" y="0"/>
                    <a:pt x="9151727" y="48437"/>
                    <a:pt x="9237945" y="134655"/>
                  </a:cubicBezTo>
                  <a:cubicBezTo>
                    <a:pt x="9324163" y="220873"/>
                    <a:pt x="9372600" y="337809"/>
                    <a:pt x="9372600" y="459740"/>
                  </a:cubicBezTo>
                  <a:lnTo>
                    <a:pt x="9372600" y="4137660"/>
                  </a:lnTo>
                  <a:cubicBezTo>
                    <a:pt x="9372600" y="4259590"/>
                    <a:pt x="9324163" y="4376527"/>
                    <a:pt x="9237945" y="4462745"/>
                  </a:cubicBezTo>
                  <a:cubicBezTo>
                    <a:pt x="9151727" y="4548963"/>
                    <a:pt x="9034790" y="4597400"/>
                    <a:pt x="8912860" y="4597400"/>
                  </a:cubicBezTo>
                  <a:lnTo>
                    <a:pt x="459740" y="4597400"/>
                  </a:lnTo>
                  <a:cubicBezTo>
                    <a:pt x="337809" y="4597400"/>
                    <a:pt x="220873" y="4548963"/>
                    <a:pt x="134655" y="4462745"/>
                  </a:cubicBezTo>
                  <a:cubicBezTo>
                    <a:pt x="48437" y="4376527"/>
                    <a:pt x="0" y="4259590"/>
                    <a:pt x="0" y="4137660"/>
                  </a:cubicBezTo>
                  <a:lnTo>
                    <a:pt x="0" y="459740"/>
                  </a:lnTo>
                  <a:cubicBezTo>
                    <a:pt x="0" y="205833"/>
                    <a:pt x="205833" y="0"/>
                    <a:pt x="459740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72600" cy="463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10705" y="3939103"/>
            <a:ext cx="7029450" cy="3448050"/>
            <a:chOff x="0" y="0"/>
            <a:chExt cx="9372600" cy="459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726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9372600">
                  <a:moveTo>
                    <a:pt x="459740" y="0"/>
                  </a:moveTo>
                  <a:lnTo>
                    <a:pt x="8912860" y="0"/>
                  </a:lnTo>
                  <a:cubicBezTo>
                    <a:pt x="9034790" y="0"/>
                    <a:pt x="9151727" y="48437"/>
                    <a:pt x="9237945" y="134655"/>
                  </a:cubicBezTo>
                  <a:cubicBezTo>
                    <a:pt x="9324163" y="220873"/>
                    <a:pt x="9372600" y="337809"/>
                    <a:pt x="9372600" y="459740"/>
                  </a:cubicBezTo>
                  <a:lnTo>
                    <a:pt x="9372600" y="4137660"/>
                  </a:lnTo>
                  <a:cubicBezTo>
                    <a:pt x="9372600" y="4259590"/>
                    <a:pt x="9324163" y="4376527"/>
                    <a:pt x="9237945" y="4462745"/>
                  </a:cubicBezTo>
                  <a:cubicBezTo>
                    <a:pt x="9151727" y="4548963"/>
                    <a:pt x="9034790" y="4597400"/>
                    <a:pt x="8912860" y="4597400"/>
                  </a:cubicBezTo>
                  <a:lnTo>
                    <a:pt x="459740" y="4597400"/>
                  </a:lnTo>
                  <a:cubicBezTo>
                    <a:pt x="337809" y="4597400"/>
                    <a:pt x="220873" y="4548963"/>
                    <a:pt x="134655" y="4462745"/>
                  </a:cubicBezTo>
                  <a:cubicBezTo>
                    <a:pt x="48437" y="4376527"/>
                    <a:pt x="0" y="4259590"/>
                    <a:pt x="0" y="4137660"/>
                  </a:cubicBezTo>
                  <a:lnTo>
                    <a:pt x="0" y="459740"/>
                  </a:lnTo>
                  <a:cubicBezTo>
                    <a:pt x="0" y="205833"/>
                    <a:pt x="205833" y="0"/>
                    <a:pt x="459740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72600" cy="463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47855" y="7863403"/>
            <a:ext cx="14592300" cy="714375"/>
            <a:chOff x="0" y="0"/>
            <a:chExt cx="19456400" cy="952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56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456400">
                  <a:moveTo>
                    <a:pt x="95250" y="0"/>
                  </a:moveTo>
                  <a:lnTo>
                    <a:pt x="19361150" y="0"/>
                  </a:lnTo>
                  <a:cubicBezTo>
                    <a:pt x="19413755" y="0"/>
                    <a:pt x="19456400" y="42645"/>
                    <a:pt x="19456400" y="95250"/>
                  </a:cubicBezTo>
                  <a:lnTo>
                    <a:pt x="19456400" y="857250"/>
                  </a:lnTo>
                  <a:cubicBezTo>
                    <a:pt x="19456400" y="909855"/>
                    <a:pt x="19413755" y="952500"/>
                    <a:pt x="193611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456400" cy="99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76505" y="8006278"/>
            <a:ext cx="13335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총 100점</a:t>
            </a:r>
            <a:r>
              <a:rPr lang="en-US" sz="21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→  SAFE / CAUTION / DANGER 3단계 판정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72680" y="6082228"/>
            <a:ext cx="5905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사기 의심 · 허위 매물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신고 건수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2180" y="5320228"/>
            <a:ext cx="6286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신고 이력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2180" y="3977203"/>
            <a:ext cx="6286500" cy="129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71"/>
              </a:lnSpc>
              <a:spcBef>
                <a:spcPct val="0"/>
              </a:spcBef>
            </a:pPr>
            <a:r>
              <a:rPr lang="en-US" b="true" sz="7551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40점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9830" y="6082228"/>
            <a:ext cx="5905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같은 동 · 유사 면적 주변 매물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시세 평균 대비 얼마나 비싼가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9330" y="5320228"/>
            <a:ext cx="6286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시세 초과율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9330" y="3977203"/>
            <a:ext cx="6286500" cy="129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71"/>
              </a:lnSpc>
              <a:spcBef>
                <a:spcPct val="0"/>
              </a:spcBef>
            </a:pPr>
            <a:r>
              <a:rPr lang="en-US" b="true" sz="7551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60점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342900"/>
            <a:ext cx="114300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매물</a:t>
            </a:r>
            <a:r>
              <a:rPr lang="en-US" b="true" sz="42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위험도 산출 기준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04900"/>
            <a:ext cx="1143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위험 계산 로직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2286" y="2033911"/>
            <a:ext cx="17603438" cy="8262614"/>
          </a:xfrm>
          <a:custGeom>
            <a:avLst/>
            <a:gdLst/>
            <a:ahLst/>
            <a:cxnLst/>
            <a:rect r="r" b="b" t="t" l="l"/>
            <a:pathLst>
              <a:path h="8262614" w="17603438">
                <a:moveTo>
                  <a:pt x="0" y="0"/>
                </a:moveTo>
                <a:lnTo>
                  <a:pt x="17603438" y="0"/>
                </a:lnTo>
                <a:lnTo>
                  <a:pt x="17603438" y="8262614"/>
                </a:lnTo>
                <a:lnTo>
                  <a:pt x="0" y="8262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342900"/>
            <a:ext cx="114300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매물 비교 — 3가지 기준으로 종합 점수 산출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104900"/>
            <a:ext cx="1143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라이프스타일 · 위험도 · 비용 가중 평균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2704"/>
            <a:ext cx="18288000" cy="7075170"/>
          </a:xfrm>
          <a:custGeom>
            <a:avLst/>
            <a:gdLst/>
            <a:ahLst/>
            <a:cxnLst/>
            <a:rect r="r" b="b" t="t" l="l"/>
            <a:pathLst>
              <a:path h="7075170" w="18288000">
                <a:moveTo>
                  <a:pt x="0" y="0"/>
                </a:moveTo>
                <a:lnTo>
                  <a:pt x="18288000" y="0"/>
                </a:lnTo>
                <a:lnTo>
                  <a:pt x="18288000" y="7075170"/>
                </a:lnTo>
                <a:lnTo>
                  <a:pt x="0" y="707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74320"/>
            <a:ext cx="14630400" cy="1046965"/>
            <a:chOff x="0" y="0"/>
            <a:chExt cx="19507200" cy="1395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1395953"/>
            </a:xfrm>
            <a:custGeom>
              <a:avLst/>
              <a:gdLst/>
              <a:ahLst/>
              <a:cxnLst/>
              <a:rect r="r" b="b" t="t" l="l"/>
              <a:pathLst>
                <a:path h="1395953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95953"/>
                  </a:lnTo>
                  <a:lnTo>
                    <a:pt x="0" y="1395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617" r="0" b="-21595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9507200" cy="1500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모델 구성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모델 프레임워크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A131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64E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관련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64E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Usage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4127" y="2121537"/>
            <a:ext cx="11047582" cy="848363"/>
            <a:chOff x="0" y="0"/>
            <a:chExt cx="14730110" cy="11311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4730110" cy="1131151"/>
              <a:chOff x="0" y="0"/>
              <a:chExt cx="14730110" cy="113115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730149" cy="1131189"/>
              </a:xfrm>
              <a:custGeom>
                <a:avLst/>
                <a:gdLst/>
                <a:ahLst/>
                <a:cxnLst/>
                <a:rect r="r" b="b" t="t" l="l"/>
                <a:pathLst>
                  <a:path h="1131189" w="14730149">
                    <a:moveTo>
                      <a:pt x="0" y="150876"/>
                    </a:moveTo>
                    <a:cubicBezTo>
                      <a:pt x="0" y="67564"/>
                      <a:pt x="92469" y="0"/>
                      <a:pt x="206490" y="0"/>
                    </a:cubicBezTo>
                    <a:lnTo>
                      <a:pt x="14523672" y="0"/>
                    </a:lnTo>
                    <a:cubicBezTo>
                      <a:pt x="14637694" y="0"/>
                      <a:pt x="14730149" y="67564"/>
                      <a:pt x="14730149" y="150876"/>
                    </a:cubicBezTo>
                    <a:lnTo>
                      <a:pt x="14730149" y="980313"/>
                    </a:lnTo>
                    <a:cubicBezTo>
                      <a:pt x="14730149" y="1063625"/>
                      <a:pt x="14637694" y="1131189"/>
                      <a:pt x="14523672" y="1131189"/>
                    </a:cubicBezTo>
                    <a:lnTo>
                      <a:pt x="206490" y="1131189"/>
                    </a:lnTo>
                    <a:cubicBezTo>
                      <a:pt x="92469" y="1131189"/>
                      <a:pt x="0" y="1063625"/>
                      <a:pt x="0" y="980313"/>
                    </a:cubicBezTo>
                    <a:close/>
                  </a:path>
                </a:pathLst>
              </a:custGeom>
              <a:solidFill>
                <a:srgbClr val="0A1317"/>
              </a:solidFill>
              <a:ln w="25400" cap="sq">
                <a:solidFill>
                  <a:srgbClr val="0A1317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169" y="16929"/>
              <a:ext cx="14683754" cy="1097280"/>
              <a:chOff x="0" y="0"/>
              <a:chExt cx="14683754" cy="1097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683753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683753">
                    <a:moveTo>
                      <a:pt x="0" y="0"/>
                    </a:moveTo>
                    <a:lnTo>
                      <a:pt x="14683753" y="0"/>
                    </a:lnTo>
                    <a:lnTo>
                      <a:pt x="14683753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0520" r="26933" b="-14052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4683754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① 생성형 AI 적용 코드 캡처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2145813" y="2121537"/>
            <a:ext cx="5643247" cy="848363"/>
            <a:chOff x="0" y="0"/>
            <a:chExt cx="7524329" cy="113115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524329" cy="1131151"/>
              <a:chOff x="0" y="0"/>
              <a:chExt cx="7524329" cy="113115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524368" cy="1131189"/>
              </a:xfrm>
              <a:custGeom>
                <a:avLst/>
                <a:gdLst/>
                <a:ahLst/>
                <a:cxnLst/>
                <a:rect r="r" b="b" t="t" l="l"/>
                <a:pathLst>
                  <a:path h="1131189" w="7524368">
                    <a:moveTo>
                      <a:pt x="0" y="150876"/>
                    </a:moveTo>
                    <a:cubicBezTo>
                      <a:pt x="0" y="67564"/>
                      <a:pt x="47234" y="0"/>
                      <a:pt x="105478" y="0"/>
                    </a:cubicBezTo>
                    <a:lnTo>
                      <a:pt x="7418878" y="0"/>
                    </a:lnTo>
                    <a:cubicBezTo>
                      <a:pt x="7477122" y="0"/>
                      <a:pt x="7524368" y="67564"/>
                      <a:pt x="7524368" y="150876"/>
                    </a:cubicBezTo>
                    <a:lnTo>
                      <a:pt x="7524368" y="980313"/>
                    </a:lnTo>
                    <a:cubicBezTo>
                      <a:pt x="7524368" y="1063625"/>
                      <a:pt x="7477122" y="1131189"/>
                      <a:pt x="7418878" y="1131189"/>
                    </a:cubicBezTo>
                    <a:lnTo>
                      <a:pt x="105478" y="1131189"/>
                    </a:lnTo>
                    <a:cubicBezTo>
                      <a:pt x="47234" y="1131189"/>
                      <a:pt x="0" y="1063625"/>
                      <a:pt x="0" y="980313"/>
                    </a:cubicBezTo>
                    <a:close/>
                  </a:path>
                </a:pathLst>
              </a:custGeom>
              <a:solidFill>
                <a:srgbClr val="F1F4F7"/>
              </a:solidFill>
              <a:ln w="25400" cap="sq">
                <a:solidFill>
                  <a:srgbClr val="F1F4F7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835" y="16929"/>
              <a:ext cx="7500650" cy="1097280"/>
              <a:chOff x="0" y="0"/>
              <a:chExt cx="7500650" cy="10972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50065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7500650">
                    <a:moveTo>
                      <a:pt x="0" y="0"/>
                    </a:moveTo>
                    <a:lnTo>
                      <a:pt x="7500650" y="0"/>
                    </a:lnTo>
                    <a:lnTo>
                      <a:pt x="750065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0520" r="-43040" b="-14052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50065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A131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② AI 프롬프트 내용 캡처</a:t>
                </a: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914400" y="5828864"/>
            <a:ext cx="10607036" cy="4254666"/>
          </a:xfrm>
          <a:custGeom>
            <a:avLst/>
            <a:gdLst/>
            <a:ahLst/>
            <a:cxnLst/>
            <a:rect r="r" b="b" t="t" l="l"/>
            <a:pathLst>
              <a:path h="4254666" w="10607036">
                <a:moveTo>
                  <a:pt x="0" y="0"/>
                </a:moveTo>
                <a:lnTo>
                  <a:pt x="10607036" y="0"/>
                </a:lnTo>
                <a:lnTo>
                  <a:pt x="10607036" y="4254666"/>
                </a:lnTo>
                <a:lnTo>
                  <a:pt x="0" y="4254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89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64014" y="3065150"/>
            <a:ext cx="3806845" cy="7018380"/>
          </a:xfrm>
          <a:custGeom>
            <a:avLst/>
            <a:gdLst/>
            <a:ahLst/>
            <a:cxnLst/>
            <a:rect r="r" b="b" t="t" l="l"/>
            <a:pathLst>
              <a:path h="7018380" w="3806845">
                <a:moveTo>
                  <a:pt x="0" y="0"/>
                </a:moveTo>
                <a:lnTo>
                  <a:pt x="3806845" y="0"/>
                </a:lnTo>
                <a:lnTo>
                  <a:pt x="3806845" y="7018380"/>
                </a:lnTo>
                <a:lnTo>
                  <a:pt x="0" y="701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14400" y="3054096"/>
            <a:ext cx="10607036" cy="2774768"/>
          </a:xfrm>
          <a:custGeom>
            <a:avLst/>
            <a:gdLst/>
            <a:ahLst/>
            <a:cxnLst/>
            <a:rect r="r" b="b" t="t" l="l"/>
            <a:pathLst>
              <a:path h="2774768" w="10607036">
                <a:moveTo>
                  <a:pt x="0" y="0"/>
                </a:moveTo>
                <a:lnTo>
                  <a:pt x="10607036" y="0"/>
                </a:lnTo>
                <a:lnTo>
                  <a:pt x="10607036" y="2774768"/>
                </a:lnTo>
                <a:lnTo>
                  <a:pt x="0" y="2774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416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0"/>
            <a:ext cx="18316575" cy="952500"/>
            <a:chOff x="0" y="0"/>
            <a:chExt cx="24422100" cy="127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21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422100">
                  <a:moveTo>
                    <a:pt x="0" y="0"/>
                  </a:moveTo>
                  <a:lnTo>
                    <a:pt x="24422100" y="0"/>
                  </a:lnTo>
                  <a:lnTo>
                    <a:pt x="244221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064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4221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24000" y="123825"/>
            <a:ext cx="152400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캐시 크기 조정 한 줄로 N+1 병목 해소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52018" y="3090891"/>
            <a:ext cx="6886877" cy="3443438"/>
            <a:chOff x="0" y="0"/>
            <a:chExt cx="86360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6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8636000">
                  <a:moveTo>
                    <a:pt x="431800" y="0"/>
                  </a:moveTo>
                  <a:lnTo>
                    <a:pt x="8204200" y="0"/>
                  </a:lnTo>
                  <a:cubicBezTo>
                    <a:pt x="8442677" y="0"/>
                    <a:pt x="8636000" y="193323"/>
                    <a:pt x="8636000" y="431800"/>
                  </a:cubicBezTo>
                  <a:lnTo>
                    <a:pt x="8636000" y="3886200"/>
                  </a:lnTo>
                  <a:cubicBezTo>
                    <a:pt x="8636000" y="4124677"/>
                    <a:pt x="8442677" y="4318000"/>
                    <a:pt x="8204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36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55850" y="3354332"/>
            <a:ext cx="6279211" cy="132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17"/>
              </a:lnSpc>
              <a:spcBef>
                <a:spcPct val="0"/>
              </a:spcBef>
            </a:pPr>
            <a:r>
              <a:rPr lang="en-US" b="true" sz="7655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-97.8%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5850" y="4765588"/>
            <a:ext cx="6279211" cy="43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72"/>
              </a:lnSpc>
              <a:spcBef>
                <a:spcPct val="0"/>
              </a:spcBef>
            </a:pPr>
            <a:r>
              <a:rPr lang="en-US" sz="2551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시설 조회 개선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5850" y="5514439"/>
            <a:ext cx="6279211" cy="3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  <a:spcBef>
                <a:spcPct val="0"/>
              </a:spcBef>
            </a:pPr>
            <a:r>
              <a:rPr lang="en-US" sz="2126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1.112s  →  0.025s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49115" y="3090891"/>
            <a:ext cx="6886877" cy="3443438"/>
            <a:chOff x="0" y="0"/>
            <a:chExt cx="8636000" cy="431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8636000">
                  <a:moveTo>
                    <a:pt x="431800" y="0"/>
                  </a:moveTo>
                  <a:lnTo>
                    <a:pt x="8204200" y="0"/>
                  </a:lnTo>
                  <a:cubicBezTo>
                    <a:pt x="8442677" y="0"/>
                    <a:pt x="8636000" y="193323"/>
                    <a:pt x="8636000" y="431800"/>
                  </a:cubicBezTo>
                  <a:lnTo>
                    <a:pt x="8636000" y="3886200"/>
                  </a:lnTo>
                  <a:cubicBezTo>
                    <a:pt x="8636000" y="4124677"/>
                    <a:pt x="8442677" y="4318000"/>
                    <a:pt x="8204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1F4F7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36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52948" y="3354332"/>
            <a:ext cx="6279211" cy="132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17"/>
              </a:lnSpc>
              <a:spcBef>
                <a:spcPct val="0"/>
              </a:spcBef>
            </a:pPr>
            <a:r>
              <a:rPr lang="en-US" b="true" sz="7655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-55.2%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2948" y="4765588"/>
            <a:ext cx="6279211" cy="43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72"/>
              </a:lnSpc>
              <a:spcBef>
                <a:spcPct val="0"/>
              </a:spcBef>
            </a:pPr>
            <a:r>
              <a:rPr lang="en-US" sz="2551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총 응답시간 개선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2948" y="5514439"/>
            <a:ext cx="6279211" cy="3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  <a:spcBef>
                <a:spcPct val="0"/>
              </a:spcBef>
            </a:pPr>
            <a:r>
              <a:rPr lang="en-US" sz="2126" strike="noStrike" u="none">
                <a:solidFill>
                  <a:srgbClr val="5A6872"/>
                </a:solidFill>
                <a:latin typeface="Inter"/>
                <a:ea typeface="Inter"/>
                <a:cs typeface="Inter"/>
                <a:sym typeface="Inter"/>
              </a:rPr>
              <a:t>2.031s  →  0.911s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852018" y="7344550"/>
            <a:ext cx="14583974" cy="708943"/>
            <a:chOff x="0" y="0"/>
            <a:chExt cx="18288000" cy="88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8288000">
                  <a:moveTo>
                    <a:pt x="88900" y="0"/>
                  </a:moveTo>
                  <a:lnTo>
                    <a:pt x="18199100" y="0"/>
                  </a:lnTo>
                  <a:cubicBezTo>
                    <a:pt x="18248198" y="0"/>
                    <a:pt x="18288000" y="39802"/>
                    <a:pt x="18288000" y="88900"/>
                  </a:cubicBezTo>
                  <a:lnTo>
                    <a:pt x="18288000" y="800100"/>
                  </a:lnTo>
                  <a:cubicBezTo>
                    <a:pt x="18288000" y="849198"/>
                    <a:pt x="18248198" y="889000"/>
                    <a:pt x="18199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57128" y="7509005"/>
            <a:ext cx="13773754" cy="32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9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원인</a:t>
            </a:r>
            <a:r>
              <a:rPr lang="en-US" sz="191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   maximumSize 1,000 → 행정동 3,500개 초과, LRU eviction 지속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852018" y="8256048"/>
            <a:ext cx="14583974" cy="708943"/>
            <a:chOff x="0" y="0"/>
            <a:chExt cx="18288000" cy="889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8288000">
                  <a:moveTo>
                    <a:pt x="88900" y="0"/>
                  </a:moveTo>
                  <a:lnTo>
                    <a:pt x="18199100" y="0"/>
                  </a:lnTo>
                  <a:cubicBezTo>
                    <a:pt x="18248198" y="0"/>
                    <a:pt x="18288000" y="39802"/>
                    <a:pt x="18288000" y="88900"/>
                  </a:cubicBezTo>
                  <a:lnTo>
                    <a:pt x="18288000" y="800100"/>
                  </a:lnTo>
                  <a:cubicBezTo>
                    <a:pt x="18288000" y="849198"/>
                    <a:pt x="18248198" y="889000"/>
                    <a:pt x="18199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288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57128" y="8420504"/>
            <a:ext cx="13773754" cy="32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9"/>
              </a:lnSpc>
              <a:spcBef>
                <a:spcPct val="0"/>
              </a:spcBef>
            </a:pPr>
            <a:r>
              <a:rPr lang="en-US" b="true" sz="1913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해결</a:t>
            </a:r>
            <a:r>
              <a:rPr lang="en-US" sz="1913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   maximumSize 5,000 으로 상향 → 전체 행정동 캐시 완전 수용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74320"/>
            <a:ext cx="14630400" cy="1046965"/>
            <a:chOff x="0" y="0"/>
            <a:chExt cx="19507200" cy="13959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507200" cy="1395953"/>
            </a:xfrm>
            <a:custGeom>
              <a:avLst/>
              <a:gdLst/>
              <a:ahLst/>
              <a:cxnLst/>
              <a:rect r="r" b="b" t="t" l="l"/>
              <a:pathLst>
                <a:path h="1395953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95953"/>
                  </a:lnTo>
                  <a:lnTo>
                    <a:pt x="0" y="13959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617" r="0" b="-2159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19507200" cy="1500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성능 최적화 ①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Caffeine Cache Tuning  —  Issue #83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6879" y="2947918"/>
            <a:ext cx="4398017" cy="223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63"/>
              </a:lnSpc>
              <a:spcBef>
                <a:spcPct val="0"/>
              </a:spcBef>
            </a:pPr>
            <a:r>
              <a:rPr lang="en-US" b="true" sz="13045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123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6879" y="5290507"/>
            <a:ext cx="4398017" cy="39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2"/>
              </a:lnSpc>
              <a:spcBef>
                <a:spcPct val="0"/>
              </a:spcBef>
            </a:pPr>
            <a:r>
              <a:rPr lang="en-US" sz="2308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SQL 쿼리 (찜 61개 기준)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86830" y="3521070"/>
            <a:ext cx="1319405" cy="99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4"/>
              </a:lnSpc>
              <a:spcBef>
                <a:spcPct val="0"/>
              </a:spcBef>
            </a:pPr>
            <a:r>
              <a:rPr lang="en-US" b="true" sz="5810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7028" y="4588294"/>
            <a:ext cx="2199008" cy="47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2770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−98.4%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3105" y="2947918"/>
            <a:ext cx="4398017" cy="223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63"/>
              </a:lnSpc>
              <a:spcBef>
                <a:spcPct val="0"/>
              </a:spcBef>
            </a:pPr>
            <a:r>
              <a:rPr lang="en-US" b="true" sz="13045" strike="noStrike" u="none">
                <a:solidFill>
                  <a:srgbClr val="0064E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3105" y="5290507"/>
            <a:ext cx="4398017" cy="39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2"/>
              </a:lnSpc>
              <a:spcBef>
                <a:spcPct val="0"/>
              </a:spcBef>
            </a:pPr>
            <a:r>
              <a:rPr lang="en-US" sz="2308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SQL 쿼리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89607" y="6917510"/>
            <a:ext cx="15121514" cy="740283"/>
            <a:chOff x="0" y="0"/>
            <a:chExt cx="19456400" cy="952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56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456400">
                  <a:moveTo>
                    <a:pt x="95250" y="0"/>
                  </a:moveTo>
                  <a:lnTo>
                    <a:pt x="19361150" y="0"/>
                  </a:lnTo>
                  <a:cubicBezTo>
                    <a:pt x="19413755" y="0"/>
                    <a:pt x="19456400" y="42645"/>
                    <a:pt x="19456400" y="95250"/>
                  </a:cubicBezTo>
                  <a:lnTo>
                    <a:pt x="19456400" y="857250"/>
                  </a:lnTo>
                  <a:cubicBezTo>
                    <a:pt x="19456400" y="909855"/>
                    <a:pt x="19413755" y="952500"/>
                    <a:pt x="193611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456400" cy="99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14036" y="7087034"/>
            <a:ext cx="14282527" cy="34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6"/>
              </a:lnSpc>
              <a:spcBef>
                <a:spcPct val="0"/>
              </a:spcBef>
            </a:pPr>
            <a:r>
              <a:rPr lang="en-US" b="true" sz="1968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원인</a:t>
            </a:r>
            <a:r>
              <a:rPr lang="en-US" sz="1968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   Lazy 로딩 → favorites · properties · images 건별 개별 조회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89607" y="7865072"/>
            <a:ext cx="15121514" cy="740283"/>
            <a:chOff x="0" y="0"/>
            <a:chExt cx="19456400" cy="952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56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456400">
                  <a:moveTo>
                    <a:pt x="95250" y="0"/>
                  </a:moveTo>
                  <a:lnTo>
                    <a:pt x="19361150" y="0"/>
                  </a:lnTo>
                  <a:cubicBezTo>
                    <a:pt x="19413755" y="0"/>
                    <a:pt x="19456400" y="42645"/>
                    <a:pt x="19456400" y="95250"/>
                  </a:cubicBezTo>
                  <a:lnTo>
                    <a:pt x="19456400" y="857250"/>
                  </a:lnTo>
                  <a:cubicBezTo>
                    <a:pt x="19456400" y="909855"/>
                    <a:pt x="19413755" y="952500"/>
                    <a:pt x="193611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E3E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456400" cy="99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14036" y="8034596"/>
            <a:ext cx="14282527" cy="34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6"/>
              </a:lnSpc>
              <a:spcBef>
                <a:spcPct val="0"/>
              </a:spcBef>
            </a:pPr>
            <a:r>
              <a:rPr lang="en-US" b="true" sz="1968" strike="noStrike" u="none">
                <a:solidFill>
                  <a:srgbClr val="0A1317"/>
                </a:solidFill>
                <a:latin typeface="Inter Bold"/>
                <a:ea typeface="Inter Bold"/>
                <a:cs typeface="Inter Bold"/>
                <a:sym typeface="Inter Bold"/>
              </a:rPr>
              <a:t>해결</a:t>
            </a:r>
            <a:r>
              <a:rPr lang="en-US" sz="1968" strike="noStrike" u="none">
                <a:solidFill>
                  <a:srgbClr val="0A1317"/>
                </a:solidFill>
                <a:latin typeface="Inter"/>
                <a:ea typeface="Inter"/>
                <a:cs typeface="Inter"/>
                <a:sym typeface="Inter"/>
              </a:rPr>
              <a:t>   fetch join 1회 + 대표 이미지 일괄 조회 1회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74320"/>
            <a:ext cx="14630400" cy="1046965"/>
            <a:chOff x="0" y="0"/>
            <a:chExt cx="19507200" cy="13959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07200" cy="1395953"/>
            </a:xfrm>
            <a:custGeom>
              <a:avLst/>
              <a:gdLst/>
              <a:ahLst/>
              <a:cxnLst/>
              <a:rect r="r" b="b" t="t" l="l"/>
              <a:pathLst>
                <a:path h="1395953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95953"/>
                  </a:lnTo>
                  <a:lnTo>
                    <a:pt x="0" y="13959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617" r="0" b="-2159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9507200" cy="1500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성능 최적화 ②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찜</a:t>
              </a: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목록 N+1 해결 — Issue #71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4630400" cy="914400"/>
            <a:chOff x="0" y="0"/>
            <a:chExt cx="19507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19507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개발 후기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4630400" cy="548640"/>
            <a:chOff x="0" y="0"/>
            <a:chExt cx="19507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0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D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Retrospective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4375" y="2314575"/>
            <a:ext cx="16859250" cy="3695700"/>
            <a:chOff x="0" y="0"/>
            <a:chExt cx="22479000" cy="492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79037" cy="4927638"/>
            </a:xfrm>
            <a:custGeom>
              <a:avLst/>
              <a:gdLst/>
              <a:ahLst/>
              <a:cxnLst/>
              <a:rect r="r" b="b" t="t" l="l"/>
              <a:pathLst>
                <a:path h="4927638" w="22479037">
                  <a:moveTo>
                    <a:pt x="0" y="320942"/>
                  </a:moveTo>
                  <a:cubicBezTo>
                    <a:pt x="0" y="143629"/>
                    <a:pt x="321217" y="0"/>
                    <a:pt x="717765" y="0"/>
                  </a:cubicBezTo>
                  <a:lnTo>
                    <a:pt x="21761315" y="0"/>
                  </a:lnTo>
                  <a:cubicBezTo>
                    <a:pt x="22157596" y="0"/>
                    <a:pt x="22479037" y="143629"/>
                    <a:pt x="22479037" y="320942"/>
                  </a:cubicBezTo>
                  <a:lnTo>
                    <a:pt x="22479037" y="4606694"/>
                  </a:lnTo>
                  <a:cubicBezTo>
                    <a:pt x="22479037" y="4783888"/>
                    <a:pt x="22157863" y="4927638"/>
                    <a:pt x="21761315" y="4927638"/>
                  </a:cubicBezTo>
                  <a:lnTo>
                    <a:pt x="717765" y="4927638"/>
                  </a:lnTo>
                  <a:cubicBezTo>
                    <a:pt x="321217" y="4927638"/>
                    <a:pt x="0" y="4783888"/>
                    <a:pt x="0" y="4606694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2500" y="2552700"/>
            <a:ext cx="571500" cy="571500"/>
            <a:chOff x="0" y="0"/>
            <a:chExt cx="762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1951" cy="761951"/>
            </a:xfrm>
            <a:custGeom>
              <a:avLst/>
              <a:gdLst/>
              <a:ahLst/>
              <a:cxnLst/>
              <a:rect r="r" b="b" t="t" l="l"/>
              <a:pathLst>
                <a:path h="761951" w="761951">
                  <a:moveTo>
                    <a:pt x="0" y="380975"/>
                  </a:moveTo>
                  <a:cubicBezTo>
                    <a:pt x="0" y="170605"/>
                    <a:pt x="170605" y="0"/>
                    <a:pt x="380975" y="0"/>
                  </a:cubicBezTo>
                  <a:cubicBezTo>
                    <a:pt x="591346" y="0"/>
                    <a:pt x="761951" y="170605"/>
                    <a:pt x="761951" y="380975"/>
                  </a:cubicBezTo>
                  <a:cubicBezTo>
                    <a:pt x="761951" y="591346"/>
                    <a:pt x="591346" y="761951"/>
                    <a:pt x="380975" y="761951"/>
                  </a:cubicBezTo>
                  <a:cubicBezTo>
                    <a:pt x="170605" y="761951"/>
                    <a:pt x="0" y="591416"/>
                    <a:pt x="0" y="380975"/>
                  </a:cubicBezTo>
                  <a:close/>
                </a:path>
              </a:pathLst>
            </a:custGeom>
            <a:solidFill>
              <a:srgbClr val="CED0D4"/>
            </a:solidFill>
            <a:ln w="25400" cap="sq">
              <a:solidFill>
                <a:srgbClr val="CED0D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71550" y="2571750"/>
            <a:ext cx="533400" cy="533400"/>
            <a:chOff x="0" y="0"/>
            <a:chExt cx="134112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D6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혁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66875" y="2647950"/>
            <a:ext cx="4762500" cy="476250"/>
            <a:chOff x="0" y="0"/>
            <a:chExt cx="6350000" cy="63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436" r="-30559" b="-2273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350000" cy="69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13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설문혁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2500" y="3200400"/>
            <a:ext cx="16383000" cy="254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8595A4"/>
                </a:solidFill>
                <a:latin typeface="Calibri (MS)"/>
                <a:ea typeface="Calibri (MS)"/>
                <a:cs typeface="Calibri (MS)"/>
                <a:sym typeface="Calibri (MS)"/>
              </a:rPr>
              <a:t>에이전트를 효과적으로 활용하기 위해서는 명확한 요구사항 작성과 결과 검증이 중요하다는 점을 배웠습니다.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 marL="712470" indent="-356235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8595A4"/>
                </a:solidFill>
                <a:latin typeface="Calibri (MS)"/>
                <a:ea typeface="Calibri (MS)"/>
                <a:cs typeface="Calibri (MS)"/>
                <a:sym typeface="Calibri (MS)"/>
              </a:rPr>
              <a:t>시간 제약으로 인해 계획했던 Spring Batch나 채팅 기능 등 일부 기능을 구현하지 못한 점은 아쉬움으로 남았습니다.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6296025"/>
            <a:ext cx="16859250" cy="3695700"/>
            <a:chOff x="0" y="0"/>
            <a:chExt cx="22479000" cy="492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79037" cy="4927638"/>
            </a:xfrm>
            <a:custGeom>
              <a:avLst/>
              <a:gdLst/>
              <a:ahLst/>
              <a:cxnLst/>
              <a:rect r="r" b="b" t="t" l="l"/>
              <a:pathLst>
                <a:path h="4927638" w="22479037">
                  <a:moveTo>
                    <a:pt x="0" y="320942"/>
                  </a:moveTo>
                  <a:cubicBezTo>
                    <a:pt x="0" y="143629"/>
                    <a:pt x="321217" y="0"/>
                    <a:pt x="717765" y="0"/>
                  </a:cubicBezTo>
                  <a:lnTo>
                    <a:pt x="21761315" y="0"/>
                  </a:lnTo>
                  <a:cubicBezTo>
                    <a:pt x="22157596" y="0"/>
                    <a:pt x="22479037" y="143629"/>
                    <a:pt x="22479037" y="320942"/>
                  </a:cubicBezTo>
                  <a:lnTo>
                    <a:pt x="22479037" y="4606694"/>
                  </a:lnTo>
                  <a:cubicBezTo>
                    <a:pt x="22479037" y="4783888"/>
                    <a:pt x="22157863" y="4927638"/>
                    <a:pt x="21761315" y="4927638"/>
                  </a:cubicBezTo>
                  <a:lnTo>
                    <a:pt x="717765" y="4927638"/>
                  </a:lnTo>
                  <a:cubicBezTo>
                    <a:pt x="321217" y="4927638"/>
                    <a:pt x="0" y="4783888"/>
                    <a:pt x="0" y="4606694"/>
                  </a:cubicBezTo>
                  <a:close/>
                </a:path>
              </a:pathLst>
            </a:custGeom>
            <a:solidFill>
              <a:srgbClr val="F1F4F7"/>
            </a:solidFill>
            <a:ln w="25400" cap="sq">
              <a:solidFill>
                <a:srgbClr val="DEE3E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2500" y="6534150"/>
            <a:ext cx="571500" cy="571500"/>
            <a:chOff x="0" y="0"/>
            <a:chExt cx="762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1951" cy="761951"/>
            </a:xfrm>
            <a:custGeom>
              <a:avLst/>
              <a:gdLst/>
              <a:ahLst/>
              <a:cxnLst/>
              <a:rect r="r" b="b" t="t" l="l"/>
              <a:pathLst>
                <a:path h="761951" w="761951">
                  <a:moveTo>
                    <a:pt x="0" y="380975"/>
                  </a:moveTo>
                  <a:cubicBezTo>
                    <a:pt x="0" y="170605"/>
                    <a:pt x="170605" y="0"/>
                    <a:pt x="380975" y="0"/>
                  </a:cubicBezTo>
                  <a:cubicBezTo>
                    <a:pt x="591346" y="0"/>
                    <a:pt x="761951" y="170605"/>
                    <a:pt x="761951" y="380975"/>
                  </a:cubicBezTo>
                  <a:cubicBezTo>
                    <a:pt x="761951" y="591346"/>
                    <a:pt x="591346" y="761951"/>
                    <a:pt x="380975" y="761951"/>
                  </a:cubicBezTo>
                  <a:cubicBezTo>
                    <a:pt x="170605" y="761951"/>
                    <a:pt x="0" y="591416"/>
                    <a:pt x="0" y="380975"/>
                  </a:cubicBezTo>
                  <a:close/>
                </a:path>
              </a:pathLst>
            </a:custGeom>
            <a:solidFill>
              <a:srgbClr val="CED0D4"/>
            </a:solidFill>
            <a:ln w="25400" cap="sq">
              <a:solidFill>
                <a:srgbClr val="CED0D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1550" y="6553200"/>
            <a:ext cx="533400" cy="533400"/>
            <a:chOff x="0" y="0"/>
            <a:chExt cx="9652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800" t="0" r="-147748" b="-389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65200" cy="101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D6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훈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66875" y="6629400"/>
            <a:ext cx="4762500" cy="476250"/>
            <a:chOff x="0" y="0"/>
            <a:chExt cx="6350000" cy="63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436" r="-30559" b="-22735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350000" cy="69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13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정상훈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2500" y="7181850"/>
            <a:ext cx="16383000" cy="254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trike="noStrike" u="none">
                <a:solidFill>
                  <a:srgbClr val="8595A4"/>
                </a:solidFill>
                <a:latin typeface="Calibri (MS)"/>
                <a:ea typeface="Calibri (MS)"/>
                <a:cs typeface="Calibri (MS)"/>
                <a:sym typeface="Calibri (MS)"/>
              </a:rPr>
              <a:t>라이프스타일 설문 결과를 가중치 점수로 환산하는 로직을 설계하면서, 비즈니스 요구사항을 코드 로직으로 옮기는 일이 생각보다 고려할 요소가 많다는 것을 깨달았다</a:t>
            </a:r>
          </a:p>
          <a:p>
            <a:pPr algn="l" marL="0" indent="0" lvl="0">
              <a:lnSpc>
                <a:spcPts val="3972"/>
              </a:lnSpc>
              <a:spcBef>
                <a:spcPct val="0"/>
              </a:spcBef>
            </a:pPr>
          </a:p>
          <a:p>
            <a:pPr algn="l" marL="714716" indent="-357358" lvl="1">
              <a:lnSpc>
                <a:spcPts val="3972"/>
              </a:lnSpc>
              <a:spcBef>
                <a:spcPct val="0"/>
              </a:spcBef>
              <a:buFont typeface="Arial"/>
              <a:buChar char="•"/>
            </a:pPr>
            <a:r>
              <a:rPr lang="en-US" sz="3310" strike="noStrike" u="none">
                <a:solidFill>
                  <a:srgbClr val="8595A4"/>
                </a:solidFill>
                <a:latin typeface="Calibri (MS)"/>
                <a:ea typeface="Calibri (MS)"/>
                <a:cs typeface="Calibri (MS)"/>
                <a:sym typeface="Calibri (MS)"/>
              </a:rPr>
              <a:t>프론트·백엔드·AI 서버 3계층을 연결하는 전체 흐름을 경험하며, 각 레이어의 역할 경계를 명확히 나누는 것이 기능 구현보다 먼저라는 걸 배웠다.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16459200" cy="2194560"/>
            <a:chOff x="0" y="0"/>
            <a:chExt cx="21945600" cy="2926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9550"/>
              <a:ext cx="21945600" cy="3135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Q&amp;A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8098" y="4875781"/>
            <a:ext cx="5511803" cy="61979"/>
            <a:chOff x="0" y="0"/>
            <a:chExt cx="7349071" cy="826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49109" cy="82677"/>
            </a:xfrm>
            <a:custGeom>
              <a:avLst/>
              <a:gdLst/>
              <a:ahLst/>
              <a:cxnLst/>
              <a:rect r="r" b="b" t="t" l="l"/>
              <a:pathLst>
                <a:path h="82677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0064E0"/>
            </a:solidFill>
            <a:ln w="25400" cap="sq">
              <a:solidFill>
                <a:srgbClr val="0064E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DAHNju6VhrA</dc:identifier>
  <dcterms:modified xsi:type="dcterms:W3CDTF">2011-08-01T06:04:30Z</dcterms:modified>
  <cp:revision>1</cp:revision>
  <dc:title>두리번.pptx</dc:title>
</cp:coreProperties>
</file>